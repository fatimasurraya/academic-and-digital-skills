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76" r:id="rId6"/>
    <p:sldId id="288" r:id="rId7"/>
    <p:sldId id="289" r:id="rId8"/>
    <p:sldId id="290" r:id="rId9"/>
    <p:sldId id="291" r:id="rId10"/>
    <p:sldId id="292" r:id="rId11"/>
    <p:sldId id="293" r:id="rId12"/>
    <p:sldId id="279" r:id="rId13"/>
    <p:sldId id="298" r:id="rId14"/>
    <p:sldId id="283" r:id="rId15"/>
    <p:sldId id="294" r:id="rId16"/>
    <p:sldId id="295" r:id="rId17"/>
    <p:sldId id="296" r:id="rId18"/>
    <p:sldId id="297" r:id="rId19"/>
    <p:sldId id="28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A630D3E-C4F9-4E98-9D14-0072F56E4922}">
          <p14:sldIdLst>
            <p14:sldId id="256"/>
            <p14:sldId id="276"/>
          </p14:sldIdLst>
        </p14:section>
        <p14:section name="Untitled Section" id="{D2A58831-A60B-400F-930B-E06F04605AB3}">
          <p14:sldIdLst>
            <p14:sldId id="288"/>
            <p14:sldId id="289"/>
            <p14:sldId id="290"/>
            <p14:sldId id="291"/>
            <p14:sldId id="292"/>
            <p14:sldId id="293"/>
            <p14:sldId id="279"/>
            <p14:sldId id="298"/>
            <p14:sldId id="283"/>
            <p14:sldId id="294"/>
            <p14:sldId id="295"/>
            <p14:sldId id="296"/>
            <p14:sldId id="297"/>
          </p14:sldIdLst>
        </p14:section>
        <p14:section name="Untitled Section" id="{B20AC83D-5BA6-4470-B709-710D6420B31F}">
          <p14:sldIdLst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44" autoAdjust="0"/>
    <p:restoredTop sz="87044" autoAdjust="0"/>
  </p:normalViewPr>
  <p:slideViewPr>
    <p:cSldViewPr snapToGrid="0" showGuides="1">
      <p:cViewPr varScale="1">
        <p:scale>
          <a:sx n="64" d="100"/>
          <a:sy n="64" d="100"/>
        </p:scale>
        <p:origin x="132" y="60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2783009766719648E-2"/>
          <c:y val="6.4405050452496684E-2"/>
          <c:w val="0.95088093422394548"/>
          <c:h val="0.90156963987448624"/>
        </c:manualLayout>
      </c:layout>
      <c:lineChart>
        <c:grouping val="standard"/>
        <c:varyColors val="0"/>
        <c:ser>
          <c:idx val="2"/>
          <c:order val="0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Sheet1!$A$2:$A$10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7</c:v>
                </c:pt>
                <c:pt idx="5">
                  <c:v>9</c:v>
                </c:pt>
                <c:pt idx="6">
                  <c:v>12</c:v>
                </c:pt>
                <c:pt idx="7">
                  <c:v>15</c:v>
                </c:pt>
                <c:pt idx="8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221-4E34-B1DE-91754F1A4E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59086552"/>
        <c:axId val="659085568"/>
      </c:lineChart>
      <c:catAx>
        <c:axId val="6590865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59085568"/>
        <c:crosses val="autoZero"/>
        <c:auto val="1"/>
        <c:lblAlgn val="ctr"/>
        <c:lblOffset val="100"/>
        <c:noMultiLvlLbl val="0"/>
      </c:catAx>
      <c:valAx>
        <c:axId val="659085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90865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65D3EB-CBDD-4100-83B7-3BFE0A8F41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B4595-A79D-4567-9FE1-DCF31A42B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C0719-993D-42E1-80ED-8F01056F36C2}" type="datetimeFigureOut">
              <a:rPr lang="en-US" smtClean="0"/>
              <a:t>11/12/2023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E452F-E862-4273-987C-980229E532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E394C-9AD7-48EA-AB0F-18032A3E09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421AD-3AC0-48CB-8727-BB447FD226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59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3BC9C-6C58-464F-B94E-FD73C5FB016E}" type="datetimeFigureOut">
              <a:rPr lang="en-US" smtClean="0"/>
              <a:t>11/12/2023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DC36-8EFA-4378-9855-E019C55AC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27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654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877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348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750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218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2233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3763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5460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7692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031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3392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9502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8252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9506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1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11/12/2023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11/12/2023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11/12/2023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11/12/2023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11/12/2023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11/12/2023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11/12/2023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11/12/2023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11/12/2023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11/12/2023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11/12/2023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A1498-92C7-4E4B-8045-C9195F453964}" type="datetimeFigureOut">
              <a:rPr lang="en-US" smtClean="0"/>
              <a:t>11/12/2023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76036"/>
            <a:ext cx="9144000" cy="2215991"/>
          </a:xfrm>
        </p:spPr>
        <p:txBody>
          <a:bodyPr lIns="0" tIns="0" rIns="0" bIns="0" anchor="t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Diamonds Dataset Analysis</a:t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accent4"/>
                </a:solidFill>
              </a:rPr>
              <a:t>Exploring Patterns &amp; Trends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4792319" y="-608242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4325258" y="-1770743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 descr="Icon of chart. ">
            <a:extLst>
              <a:ext uri="{FF2B5EF4-FFF2-40B4-BE49-F238E27FC236}">
                <a16:creationId xmlns:a16="http://schemas.microsoft.com/office/drawing/2014/main" id="{B95DF07A-CE7E-4D89-9AA0-25F4FFF3B9C7}"/>
              </a:ext>
            </a:extLst>
          </p:cNvPr>
          <p:cNvGrpSpPr/>
          <p:nvPr/>
        </p:nvGrpSpPr>
        <p:grpSpPr>
          <a:xfrm>
            <a:off x="5851021" y="3724968"/>
            <a:ext cx="489958" cy="492680"/>
            <a:chOff x="2025650" y="4786313"/>
            <a:chExt cx="285750" cy="287338"/>
          </a:xfrm>
          <a:solidFill>
            <a:schemeClr val="bg1"/>
          </a:solidFill>
        </p:grpSpPr>
        <p:sp>
          <p:nvSpPr>
            <p:cNvPr id="8" name="Freeform 565">
              <a:extLst>
                <a:ext uri="{FF2B5EF4-FFF2-40B4-BE49-F238E27FC236}">
                  <a16:creationId xmlns:a16="http://schemas.microsoft.com/office/drawing/2014/main" id="{548FC78B-EF83-4185-A63D-1A5A85640B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25650" y="4786313"/>
              <a:ext cx="285750" cy="287338"/>
            </a:xfrm>
            <a:custGeom>
              <a:avLst/>
              <a:gdLst>
                <a:gd name="T0" fmla="*/ 812 w 903"/>
                <a:gd name="T1" fmla="*/ 500 h 903"/>
                <a:gd name="T2" fmla="*/ 810 w 903"/>
                <a:gd name="T3" fmla="*/ 505 h 903"/>
                <a:gd name="T4" fmla="*/ 806 w 903"/>
                <a:gd name="T5" fmla="*/ 509 h 903"/>
                <a:gd name="T6" fmla="*/ 800 w 903"/>
                <a:gd name="T7" fmla="*/ 511 h 903"/>
                <a:gd name="T8" fmla="*/ 105 w 903"/>
                <a:gd name="T9" fmla="*/ 511 h 903"/>
                <a:gd name="T10" fmla="*/ 99 w 903"/>
                <a:gd name="T11" fmla="*/ 510 h 903"/>
                <a:gd name="T12" fmla="*/ 95 w 903"/>
                <a:gd name="T13" fmla="*/ 507 h 903"/>
                <a:gd name="T14" fmla="*/ 92 w 903"/>
                <a:gd name="T15" fmla="*/ 502 h 903"/>
                <a:gd name="T16" fmla="*/ 90 w 903"/>
                <a:gd name="T17" fmla="*/ 496 h 903"/>
                <a:gd name="T18" fmla="*/ 90 w 903"/>
                <a:gd name="T19" fmla="*/ 105 h 903"/>
                <a:gd name="T20" fmla="*/ 92 w 903"/>
                <a:gd name="T21" fmla="*/ 100 h 903"/>
                <a:gd name="T22" fmla="*/ 95 w 903"/>
                <a:gd name="T23" fmla="*/ 94 h 903"/>
                <a:gd name="T24" fmla="*/ 99 w 903"/>
                <a:gd name="T25" fmla="*/ 91 h 903"/>
                <a:gd name="T26" fmla="*/ 105 w 903"/>
                <a:gd name="T27" fmla="*/ 90 h 903"/>
                <a:gd name="T28" fmla="*/ 800 w 903"/>
                <a:gd name="T29" fmla="*/ 90 h 903"/>
                <a:gd name="T30" fmla="*/ 806 w 903"/>
                <a:gd name="T31" fmla="*/ 92 h 903"/>
                <a:gd name="T32" fmla="*/ 810 w 903"/>
                <a:gd name="T33" fmla="*/ 96 h 903"/>
                <a:gd name="T34" fmla="*/ 812 w 903"/>
                <a:gd name="T35" fmla="*/ 102 h 903"/>
                <a:gd name="T36" fmla="*/ 813 w 903"/>
                <a:gd name="T37" fmla="*/ 496 h 903"/>
                <a:gd name="T38" fmla="*/ 15 w 903"/>
                <a:gd name="T39" fmla="*/ 0 h 903"/>
                <a:gd name="T40" fmla="*/ 9 w 903"/>
                <a:gd name="T41" fmla="*/ 1 h 903"/>
                <a:gd name="T42" fmla="*/ 5 w 903"/>
                <a:gd name="T43" fmla="*/ 4 h 903"/>
                <a:gd name="T44" fmla="*/ 1 w 903"/>
                <a:gd name="T45" fmla="*/ 8 h 903"/>
                <a:gd name="T46" fmla="*/ 0 w 903"/>
                <a:gd name="T47" fmla="*/ 15 h 903"/>
                <a:gd name="T48" fmla="*/ 0 w 903"/>
                <a:gd name="T49" fmla="*/ 590 h 903"/>
                <a:gd name="T50" fmla="*/ 2 w 903"/>
                <a:gd name="T51" fmla="*/ 595 h 903"/>
                <a:gd name="T52" fmla="*/ 7 w 903"/>
                <a:gd name="T53" fmla="*/ 599 h 903"/>
                <a:gd name="T54" fmla="*/ 12 w 903"/>
                <a:gd name="T55" fmla="*/ 602 h 903"/>
                <a:gd name="T56" fmla="*/ 437 w 903"/>
                <a:gd name="T57" fmla="*/ 602 h 903"/>
                <a:gd name="T58" fmla="*/ 260 w 903"/>
                <a:gd name="T59" fmla="*/ 877 h 903"/>
                <a:gd name="T60" fmla="*/ 257 w 903"/>
                <a:gd name="T61" fmla="*/ 883 h 903"/>
                <a:gd name="T62" fmla="*/ 256 w 903"/>
                <a:gd name="T63" fmla="*/ 888 h 903"/>
                <a:gd name="T64" fmla="*/ 257 w 903"/>
                <a:gd name="T65" fmla="*/ 893 h 903"/>
                <a:gd name="T66" fmla="*/ 260 w 903"/>
                <a:gd name="T67" fmla="*/ 899 h 903"/>
                <a:gd name="T68" fmla="*/ 265 w 903"/>
                <a:gd name="T69" fmla="*/ 902 h 903"/>
                <a:gd name="T70" fmla="*/ 271 w 903"/>
                <a:gd name="T71" fmla="*/ 903 h 903"/>
                <a:gd name="T72" fmla="*/ 277 w 903"/>
                <a:gd name="T73" fmla="*/ 902 h 903"/>
                <a:gd name="T74" fmla="*/ 281 w 903"/>
                <a:gd name="T75" fmla="*/ 899 h 903"/>
                <a:gd name="T76" fmla="*/ 621 w 903"/>
                <a:gd name="T77" fmla="*/ 899 h 903"/>
                <a:gd name="T78" fmla="*/ 627 w 903"/>
                <a:gd name="T79" fmla="*/ 902 h 903"/>
                <a:gd name="T80" fmla="*/ 632 w 903"/>
                <a:gd name="T81" fmla="*/ 903 h 903"/>
                <a:gd name="T82" fmla="*/ 637 w 903"/>
                <a:gd name="T83" fmla="*/ 902 h 903"/>
                <a:gd name="T84" fmla="*/ 643 w 903"/>
                <a:gd name="T85" fmla="*/ 899 h 903"/>
                <a:gd name="T86" fmla="*/ 646 w 903"/>
                <a:gd name="T87" fmla="*/ 893 h 903"/>
                <a:gd name="T88" fmla="*/ 647 w 903"/>
                <a:gd name="T89" fmla="*/ 888 h 903"/>
                <a:gd name="T90" fmla="*/ 646 w 903"/>
                <a:gd name="T91" fmla="*/ 883 h 903"/>
                <a:gd name="T92" fmla="*/ 643 w 903"/>
                <a:gd name="T93" fmla="*/ 877 h 903"/>
                <a:gd name="T94" fmla="*/ 467 w 903"/>
                <a:gd name="T95" fmla="*/ 602 h 903"/>
                <a:gd name="T96" fmla="*/ 892 w 903"/>
                <a:gd name="T97" fmla="*/ 602 h 903"/>
                <a:gd name="T98" fmla="*/ 897 w 903"/>
                <a:gd name="T99" fmla="*/ 599 h 903"/>
                <a:gd name="T100" fmla="*/ 900 w 903"/>
                <a:gd name="T101" fmla="*/ 595 h 903"/>
                <a:gd name="T102" fmla="*/ 902 w 903"/>
                <a:gd name="T103" fmla="*/ 590 h 903"/>
                <a:gd name="T104" fmla="*/ 903 w 903"/>
                <a:gd name="T105" fmla="*/ 15 h 903"/>
                <a:gd name="T106" fmla="*/ 902 w 903"/>
                <a:gd name="T107" fmla="*/ 8 h 903"/>
                <a:gd name="T108" fmla="*/ 899 w 903"/>
                <a:gd name="T109" fmla="*/ 4 h 903"/>
                <a:gd name="T110" fmla="*/ 894 w 903"/>
                <a:gd name="T111" fmla="*/ 1 h 903"/>
                <a:gd name="T112" fmla="*/ 888 w 903"/>
                <a:gd name="T11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3" h="903">
                  <a:moveTo>
                    <a:pt x="813" y="496"/>
                  </a:moveTo>
                  <a:lnTo>
                    <a:pt x="812" y="500"/>
                  </a:lnTo>
                  <a:lnTo>
                    <a:pt x="811" y="502"/>
                  </a:lnTo>
                  <a:lnTo>
                    <a:pt x="810" y="505"/>
                  </a:lnTo>
                  <a:lnTo>
                    <a:pt x="808" y="507"/>
                  </a:lnTo>
                  <a:lnTo>
                    <a:pt x="806" y="509"/>
                  </a:lnTo>
                  <a:lnTo>
                    <a:pt x="804" y="510"/>
                  </a:lnTo>
                  <a:lnTo>
                    <a:pt x="800" y="511"/>
                  </a:lnTo>
                  <a:lnTo>
                    <a:pt x="797" y="511"/>
                  </a:lnTo>
                  <a:lnTo>
                    <a:pt x="105" y="511"/>
                  </a:lnTo>
                  <a:lnTo>
                    <a:pt x="102" y="511"/>
                  </a:lnTo>
                  <a:lnTo>
                    <a:pt x="99" y="510"/>
                  </a:lnTo>
                  <a:lnTo>
                    <a:pt x="97" y="509"/>
                  </a:lnTo>
                  <a:lnTo>
                    <a:pt x="95" y="507"/>
                  </a:lnTo>
                  <a:lnTo>
                    <a:pt x="93" y="505"/>
                  </a:lnTo>
                  <a:lnTo>
                    <a:pt x="92" y="502"/>
                  </a:lnTo>
                  <a:lnTo>
                    <a:pt x="90" y="500"/>
                  </a:lnTo>
                  <a:lnTo>
                    <a:pt x="90" y="496"/>
                  </a:lnTo>
                  <a:lnTo>
                    <a:pt x="90" y="316"/>
                  </a:lnTo>
                  <a:lnTo>
                    <a:pt x="90" y="105"/>
                  </a:lnTo>
                  <a:lnTo>
                    <a:pt x="90" y="102"/>
                  </a:lnTo>
                  <a:lnTo>
                    <a:pt x="92" y="100"/>
                  </a:lnTo>
                  <a:lnTo>
                    <a:pt x="93" y="96"/>
                  </a:lnTo>
                  <a:lnTo>
                    <a:pt x="95" y="94"/>
                  </a:lnTo>
                  <a:lnTo>
                    <a:pt x="97" y="92"/>
                  </a:lnTo>
                  <a:lnTo>
                    <a:pt x="99" y="91"/>
                  </a:lnTo>
                  <a:lnTo>
                    <a:pt x="102" y="90"/>
                  </a:lnTo>
                  <a:lnTo>
                    <a:pt x="105" y="90"/>
                  </a:lnTo>
                  <a:lnTo>
                    <a:pt x="798" y="90"/>
                  </a:lnTo>
                  <a:lnTo>
                    <a:pt x="800" y="90"/>
                  </a:lnTo>
                  <a:lnTo>
                    <a:pt x="804" y="91"/>
                  </a:lnTo>
                  <a:lnTo>
                    <a:pt x="806" y="92"/>
                  </a:lnTo>
                  <a:lnTo>
                    <a:pt x="808" y="94"/>
                  </a:lnTo>
                  <a:lnTo>
                    <a:pt x="810" y="96"/>
                  </a:lnTo>
                  <a:lnTo>
                    <a:pt x="811" y="100"/>
                  </a:lnTo>
                  <a:lnTo>
                    <a:pt x="812" y="102"/>
                  </a:lnTo>
                  <a:lnTo>
                    <a:pt x="813" y="105"/>
                  </a:lnTo>
                  <a:lnTo>
                    <a:pt x="813" y="496"/>
                  </a:lnTo>
                  <a:close/>
                  <a:moveTo>
                    <a:pt x="888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587"/>
                  </a:lnTo>
                  <a:lnTo>
                    <a:pt x="0" y="590"/>
                  </a:lnTo>
                  <a:lnTo>
                    <a:pt x="1" y="593"/>
                  </a:lnTo>
                  <a:lnTo>
                    <a:pt x="2" y="595"/>
                  </a:lnTo>
                  <a:lnTo>
                    <a:pt x="5" y="597"/>
                  </a:lnTo>
                  <a:lnTo>
                    <a:pt x="7" y="599"/>
                  </a:lnTo>
                  <a:lnTo>
                    <a:pt x="9" y="601"/>
                  </a:lnTo>
                  <a:lnTo>
                    <a:pt x="12" y="602"/>
                  </a:lnTo>
                  <a:lnTo>
                    <a:pt x="15" y="602"/>
                  </a:lnTo>
                  <a:lnTo>
                    <a:pt x="437" y="602"/>
                  </a:lnTo>
                  <a:lnTo>
                    <a:pt x="437" y="701"/>
                  </a:lnTo>
                  <a:lnTo>
                    <a:pt x="260" y="877"/>
                  </a:lnTo>
                  <a:lnTo>
                    <a:pt x="259" y="879"/>
                  </a:lnTo>
                  <a:lnTo>
                    <a:pt x="257" y="883"/>
                  </a:lnTo>
                  <a:lnTo>
                    <a:pt x="256" y="885"/>
                  </a:lnTo>
                  <a:lnTo>
                    <a:pt x="256" y="888"/>
                  </a:lnTo>
                  <a:lnTo>
                    <a:pt x="256" y="891"/>
                  </a:lnTo>
                  <a:lnTo>
                    <a:pt x="257" y="893"/>
                  </a:lnTo>
                  <a:lnTo>
                    <a:pt x="259" y="897"/>
                  </a:lnTo>
                  <a:lnTo>
                    <a:pt x="260" y="899"/>
                  </a:lnTo>
                  <a:lnTo>
                    <a:pt x="263" y="901"/>
                  </a:lnTo>
                  <a:lnTo>
                    <a:pt x="265" y="902"/>
                  </a:lnTo>
                  <a:lnTo>
                    <a:pt x="268" y="903"/>
                  </a:lnTo>
                  <a:lnTo>
                    <a:pt x="271" y="903"/>
                  </a:lnTo>
                  <a:lnTo>
                    <a:pt x="274" y="903"/>
                  </a:lnTo>
                  <a:lnTo>
                    <a:pt x="277" y="902"/>
                  </a:lnTo>
                  <a:lnTo>
                    <a:pt x="279" y="901"/>
                  </a:lnTo>
                  <a:lnTo>
                    <a:pt x="281" y="899"/>
                  </a:lnTo>
                  <a:lnTo>
                    <a:pt x="452" y="728"/>
                  </a:lnTo>
                  <a:lnTo>
                    <a:pt x="621" y="899"/>
                  </a:lnTo>
                  <a:lnTo>
                    <a:pt x="623" y="901"/>
                  </a:lnTo>
                  <a:lnTo>
                    <a:pt x="627" y="902"/>
                  </a:lnTo>
                  <a:lnTo>
                    <a:pt x="629" y="903"/>
                  </a:lnTo>
                  <a:lnTo>
                    <a:pt x="632" y="903"/>
                  </a:lnTo>
                  <a:lnTo>
                    <a:pt x="635" y="903"/>
                  </a:lnTo>
                  <a:lnTo>
                    <a:pt x="637" y="902"/>
                  </a:lnTo>
                  <a:lnTo>
                    <a:pt x="641" y="901"/>
                  </a:lnTo>
                  <a:lnTo>
                    <a:pt x="643" y="899"/>
                  </a:lnTo>
                  <a:lnTo>
                    <a:pt x="645" y="897"/>
                  </a:lnTo>
                  <a:lnTo>
                    <a:pt x="646" y="893"/>
                  </a:lnTo>
                  <a:lnTo>
                    <a:pt x="647" y="891"/>
                  </a:lnTo>
                  <a:lnTo>
                    <a:pt x="647" y="888"/>
                  </a:lnTo>
                  <a:lnTo>
                    <a:pt x="647" y="885"/>
                  </a:lnTo>
                  <a:lnTo>
                    <a:pt x="646" y="883"/>
                  </a:lnTo>
                  <a:lnTo>
                    <a:pt x="645" y="879"/>
                  </a:lnTo>
                  <a:lnTo>
                    <a:pt x="643" y="877"/>
                  </a:lnTo>
                  <a:lnTo>
                    <a:pt x="467" y="701"/>
                  </a:lnTo>
                  <a:lnTo>
                    <a:pt x="467" y="602"/>
                  </a:lnTo>
                  <a:lnTo>
                    <a:pt x="888" y="602"/>
                  </a:lnTo>
                  <a:lnTo>
                    <a:pt x="892" y="602"/>
                  </a:lnTo>
                  <a:lnTo>
                    <a:pt x="894" y="601"/>
                  </a:lnTo>
                  <a:lnTo>
                    <a:pt x="897" y="599"/>
                  </a:lnTo>
                  <a:lnTo>
                    <a:pt x="899" y="597"/>
                  </a:lnTo>
                  <a:lnTo>
                    <a:pt x="900" y="595"/>
                  </a:lnTo>
                  <a:lnTo>
                    <a:pt x="902" y="593"/>
                  </a:lnTo>
                  <a:lnTo>
                    <a:pt x="902" y="590"/>
                  </a:lnTo>
                  <a:lnTo>
                    <a:pt x="903" y="587"/>
                  </a:lnTo>
                  <a:lnTo>
                    <a:pt x="903" y="15"/>
                  </a:lnTo>
                  <a:lnTo>
                    <a:pt x="902" y="12"/>
                  </a:lnTo>
                  <a:lnTo>
                    <a:pt x="902" y="8"/>
                  </a:lnTo>
                  <a:lnTo>
                    <a:pt x="900" y="6"/>
                  </a:lnTo>
                  <a:lnTo>
                    <a:pt x="899" y="4"/>
                  </a:lnTo>
                  <a:lnTo>
                    <a:pt x="897" y="2"/>
                  </a:lnTo>
                  <a:lnTo>
                    <a:pt x="894" y="1"/>
                  </a:lnTo>
                  <a:lnTo>
                    <a:pt x="892" y="0"/>
                  </a:lnTo>
                  <a:lnTo>
                    <a:pt x="88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566">
              <a:extLst>
                <a:ext uri="{FF2B5EF4-FFF2-40B4-BE49-F238E27FC236}">
                  <a16:creationId xmlns:a16="http://schemas.microsoft.com/office/drawing/2014/main" id="{B7B50F87-A3AA-4FB6-9692-24BF5512F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4225" y="4843463"/>
              <a:ext cx="200025" cy="73025"/>
            </a:xfrm>
            <a:custGeom>
              <a:avLst/>
              <a:gdLst>
                <a:gd name="T0" fmla="*/ 151 w 632"/>
                <a:gd name="T1" fmla="*/ 151 h 226"/>
                <a:gd name="T2" fmla="*/ 157 w 632"/>
                <a:gd name="T3" fmla="*/ 149 h 226"/>
                <a:gd name="T4" fmla="*/ 161 w 632"/>
                <a:gd name="T5" fmla="*/ 146 h 226"/>
                <a:gd name="T6" fmla="*/ 288 w 632"/>
                <a:gd name="T7" fmla="*/ 217 h 226"/>
                <a:gd name="T8" fmla="*/ 292 w 632"/>
                <a:gd name="T9" fmla="*/ 223 h 226"/>
                <a:gd name="T10" fmla="*/ 299 w 632"/>
                <a:gd name="T11" fmla="*/ 226 h 226"/>
                <a:gd name="T12" fmla="*/ 302 w 632"/>
                <a:gd name="T13" fmla="*/ 226 h 226"/>
                <a:gd name="T14" fmla="*/ 307 w 632"/>
                <a:gd name="T15" fmla="*/ 225 h 226"/>
                <a:gd name="T16" fmla="*/ 313 w 632"/>
                <a:gd name="T17" fmla="*/ 222 h 226"/>
                <a:gd name="T18" fmla="*/ 471 w 632"/>
                <a:gd name="T19" fmla="*/ 191 h 226"/>
                <a:gd name="T20" fmla="*/ 477 w 632"/>
                <a:gd name="T21" fmla="*/ 195 h 226"/>
                <a:gd name="T22" fmla="*/ 483 w 632"/>
                <a:gd name="T23" fmla="*/ 196 h 226"/>
                <a:gd name="T24" fmla="*/ 488 w 632"/>
                <a:gd name="T25" fmla="*/ 194 h 226"/>
                <a:gd name="T26" fmla="*/ 494 w 632"/>
                <a:gd name="T27" fmla="*/ 191 h 226"/>
                <a:gd name="T28" fmla="*/ 631 w 632"/>
                <a:gd name="T29" fmla="*/ 23 h 226"/>
                <a:gd name="T30" fmla="*/ 632 w 632"/>
                <a:gd name="T31" fmla="*/ 16 h 226"/>
                <a:gd name="T32" fmla="*/ 632 w 632"/>
                <a:gd name="T33" fmla="*/ 11 h 226"/>
                <a:gd name="T34" fmla="*/ 629 w 632"/>
                <a:gd name="T35" fmla="*/ 5 h 226"/>
                <a:gd name="T36" fmla="*/ 625 w 632"/>
                <a:gd name="T37" fmla="*/ 2 h 226"/>
                <a:gd name="T38" fmla="*/ 619 w 632"/>
                <a:gd name="T39" fmla="*/ 0 h 226"/>
                <a:gd name="T40" fmla="*/ 613 w 632"/>
                <a:gd name="T41" fmla="*/ 1 h 226"/>
                <a:gd name="T42" fmla="*/ 607 w 632"/>
                <a:gd name="T43" fmla="*/ 3 h 226"/>
                <a:gd name="T44" fmla="*/ 481 w 632"/>
                <a:gd name="T45" fmla="*/ 159 h 226"/>
                <a:gd name="T46" fmla="*/ 415 w 632"/>
                <a:gd name="T47" fmla="*/ 93 h 226"/>
                <a:gd name="T48" fmla="*/ 409 w 632"/>
                <a:gd name="T49" fmla="*/ 91 h 226"/>
                <a:gd name="T50" fmla="*/ 404 w 632"/>
                <a:gd name="T51" fmla="*/ 91 h 226"/>
                <a:gd name="T52" fmla="*/ 398 w 632"/>
                <a:gd name="T53" fmla="*/ 93 h 226"/>
                <a:gd name="T54" fmla="*/ 307 w 632"/>
                <a:gd name="T55" fmla="*/ 185 h 226"/>
                <a:gd name="T56" fmla="*/ 247 w 632"/>
                <a:gd name="T57" fmla="*/ 39 h 226"/>
                <a:gd name="T58" fmla="*/ 242 w 632"/>
                <a:gd name="T59" fmla="*/ 34 h 226"/>
                <a:gd name="T60" fmla="*/ 234 w 632"/>
                <a:gd name="T61" fmla="*/ 33 h 226"/>
                <a:gd name="T62" fmla="*/ 227 w 632"/>
                <a:gd name="T63" fmla="*/ 35 h 226"/>
                <a:gd name="T64" fmla="*/ 144 w 632"/>
                <a:gd name="T65" fmla="*/ 121 h 226"/>
                <a:gd name="T66" fmla="*/ 12 w 632"/>
                <a:gd name="T67" fmla="*/ 121 h 226"/>
                <a:gd name="T68" fmla="*/ 7 w 632"/>
                <a:gd name="T69" fmla="*/ 123 h 226"/>
                <a:gd name="T70" fmla="*/ 3 w 632"/>
                <a:gd name="T71" fmla="*/ 128 h 226"/>
                <a:gd name="T72" fmla="*/ 0 w 632"/>
                <a:gd name="T73" fmla="*/ 133 h 226"/>
                <a:gd name="T74" fmla="*/ 0 w 632"/>
                <a:gd name="T75" fmla="*/ 138 h 226"/>
                <a:gd name="T76" fmla="*/ 3 w 632"/>
                <a:gd name="T77" fmla="*/ 144 h 226"/>
                <a:gd name="T78" fmla="*/ 7 w 632"/>
                <a:gd name="T79" fmla="*/ 148 h 226"/>
                <a:gd name="T80" fmla="*/ 12 w 632"/>
                <a:gd name="T81" fmla="*/ 150 h 226"/>
                <a:gd name="T82" fmla="*/ 15 w 632"/>
                <a:gd name="T83" fmla="*/ 15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32" h="226">
                  <a:moveTo>
                    <a:pt x="15" y="151"/>
                  </a:moveTo>
                  <a:lnTo>
                    <a:pt x="151" y="151"/>
                  </a:lnTo>
                  <a:lnTo>
                    <a:pt x="154" y="150"/>
                  </a:lnTo>
                  <a:lnTo>
                    <a:pt x="157" y="149"/>
                  </a:lnTo>
                  <a:lnTo>
                    <a:pt x="159" y="148"/>
                  </a:lnTo>
                  <a:lnTo>
                    <a:pt x="161" y="146"/>
                  </a:lnTo>
                  <a:lnTo>
                    <a:pt x="230" y="75"/>
                  </a:lnTo>
                  <a:lnTo>
                    <a:pt x="288" y="217"/>
                  </a:lnTo>
                  <a:lnTo>
                    <a:pt x="289" y="220"/>
                  </a:lnTo>
                  <a:lnTo>
                    <a:pt x="292" y="223"/>
                  </a:lnTo>
                  <a:lnTo>
                    <a:pt x="294" y="224"/>
                  </a:lnTo>
                  <a:lnTo>
                    <a:pt x="299" y="226"/>
                  </a:lnTo>
                  <a:lnTo>
                    <a:pt x="300" y="226"/>
                  </a:lnTo>
                  <a:lnTo>
                    <a:pt x="302" y="226"/>
                  </a:lnTo>
                  <a:lnTo>
                    <a:pt x="304" y="226"/>
                  </a:lnTo>
                  <a:lnTo>
                    <a:pt x="307" y="225"/>
                  </a:lnTo>
                  <a:lnTo>
                    <a:pt x="309" y="223"/>
                  </a:lnTo>
                  <a:lnTo>
                    <a:pt x="313" y="222"/>
                  </a:lnTo>
                  <a:lnTo>
                    <a:pt x="407" y="127"/>
                  </a:lnTo>
                  <a:lnTo>
                    <a:pt x="471" y="191"/>
                  </a:lnTo>
                  <a:lnTo>
                    <a:pt x="473" y="193"/>
                  </a:lnTo>
                  <a:lnTo>
                    <a:pt x="477" y="195"/>
                  </a:lnTo>
                  <a:lnTo>
                    <a:pt x="480" y="196"/>
                  </a:lnTo>
                  <a:lnTo>
                    <a:pt x="483" y="196"/>
                  </a:lnTo>
                  <a:lnTo>
                    <a:pt x="486" y="195"/>
                  </a:lnTo>
                  <a:lnTo>
                    <a:pt x="488" y="194"/>
                  </a:lnTo>
                  <a:lnTo>
                    <a:pt x="492" y="193"/>
                  </a:lnTo>
                  <a:lnTo>
                    <a:pt x="494" y="191"/>
                  </a:lnTo>
                  <a:lnTo>
                    <a:pt x="629" y="25"/>
                  </a:lnTo>
                  <a:lnTo>
                    <a:pt x="631" y="23"/>
                  </a:lnTo>
                  <a:lnTo>
                    <a:pt x="632" y="19"/>
                  </a:lnTo>
                  <a:lnTo>
                    <a:pt x="632" y="16"/>
                  </a:lnTo>
                  <a:lnTo>
                    <a:pt x="632" y="14"/>
                  </a:lnTo>
                  <a:lnTo>
                    <a:pt x="632" y="11"/>
                  </a:lnTo>
                  <a:lnTo>
                    <a:pt x="631" y="9"/>
                  </a:lnTo>
                  <a:lnTo>
                    <a:pt x="629" y="5"/>
                  </a:lnTo>
                  <a:lnTo>
                    <a:pt x="627" y="3"/>
                  </a:lnTo>
                  <a:lnTo>
                    <a:pt x="625" y="2"/>
                  </a:lnTo>
                  <a:lnTo>
                    <a:pt x="621" y="1"/>
                  </a:lnTo>
                  <a:lnTo>
                    <a:pt x="619" y="0"/>
                  </a:lnTo>
                  <a:lnTo>
                    <a:pt x="616" y="0"/>
                  </a:lnTo>
                  <a:lnTo>
                    <a:pt x="613" y="1"/>
                  </a:lnTo>
                  <a:lnTo>
                    <a:pt x="611" y="2"/>
                  </a:lnTo>
                  <a:lnTo>
                    <a:pt x="607" y="3"/>
                  </a:lnTo>
                  <a:lnTo>
                    <a:pt x="605" y="5"/>
                  </a:lnTo>
                  <a:lnTo>
                    <a:pt x="481" y="159"/>
                  </a:lnTo>
                  <a:lnTo>
                    <a:pt x="418" y="95"/>
                  </a:lnTo>
                  <a:lnTo>
                    <a:pt x="415" y="93"/>
                  </a:lnTo>
                  <a:lnTo>
                    <a:pt x="412" y="91"/>
                  </a:lnTo>
                  <a:lnTo>
                    <a:pt x="409" y="91"/>
                  </a:lnTo>
                  <a:lnTo>
                    <a:pt x="407" y="90"/>
                  </a:lnTo>
                  <a:lnTo>
                    <a:pt x="404" y="91"/>
                  </a:lnTo>
                  <a:lnTo>
                    <a:pt x="400" y="91"/>
                  </a:lnTo>
                  <a:lnTo>
                    <a:pt x="398" y="93"/>
                  </a:lnTo>
                  <a:lnTo>
                    <a:pt x="396" y="95"/>
                  </a:lnTo>
                  <a:lnTo>
                    <a:pt x="307" y="185"/>
                  </a:lnTo>
                  <a:lnTo>
                    <a:pt x="249" y="42"/>
                  </a:lnTo>
                  <a:lnTo>
                    <a:pt x="247" y="39"/>
                  </a:lnTo>
                  <a:lnTo>
                    <a:pt x="244" y="36"/>
                  </a:lnTo>
                  <a:lnTo>
                    <a:pt x="242" y="34"/>
                  </a:lnTo>
                  <a:lnTo>
                    <a:pt x="237" y="33"/>
                  </a:lnTo>
                  <a:lnTo>
                    <a:pt x="234" y="33"/>
                  </a:lnTo>
                  <a:lnTo>
                    <a:pt x="230" y="33"/>
                  </a:lnTo>
                  <a:lnTo>
                    <a:pt x="227" y="35"/>
                  </a:lnTo>
                  <a:lnTo>
                    <a:pt x="224" y="38"/>
                  </a:lnTo>
                  <a:lnTo>
                    <a:pt x="144" y="121"/>
                  </a:lnTo>
                  <a:lnTo>
                    <a:pt x="15" y="121"/>
                  </a:lnTo>
                  <a:lnTo>
                    <a:pt x="12" y="121"/>
                  </a:lnTo>
                  <a:lnTo>
                    <a:pt x="9" y="122"/>
                  </a:lnTo>
                  <a:lnTo>
                    <a:pt x="7" y="123"/>
                  </a:lnTo>
                  <a:lnTo>
                    <a:pt x="5" y="126"/>
                  </a:lnTo>
                  <a:lnTo>
                    <a:pt x="3" y="128"/>
                  </a:lnTo>
                  <a:lnTo>
                    <a:pt x="2" y="130"/>
                  </a:lnTo>
                  <a:lnTo>
                    <a:pt x="0" y="133"/>
                  </a:lnTo>
                  <a:lnTo>
                    <a:pt x="0" y="136"/>
                  </a:lnTo>
                  <a:lnTo>
                    <a:pt x="0" y="138"/>
                  </a:lnTo>
                  <a:lnTo>
                    <a:pt x="2" y="142"/>
                  </a:lnTo>
                  <a:lnTo>
                    <a:pt x="3" y="144"/>
                  </a:lnTo>
                  <a:lnTo>
                    <a:pt x="5" y="146"/>
                  </a:lnTo>
                  <a:lnTo>
                    <a:pt x="7" y="148"/>
                  </a:lnTo>
                  <a:lnTo>
                    <a:pt x="9" y="150"/>
                  </a:lnTo>
                  <a:lnTo>
                    <a:pt x="12" y="150"/>
                  </a:lnTo>
                  <a:lnTo>
                    <a:pt x="15" y="151"/>
                  </a:lnTo>
                  <a:lnTo>
                    <a:pt x="15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>
            <a:extLst>
              <a:ext uri="{FF2B5EF4-FFF2-40B4-BE49-F238E27FC236}">
                <a16:creationId xmlns:a16="http://schemas.microsoft.com/office/drawing/2014/main" id="{364CFD90-D0E1-4BC3-9D8B-7503E2632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4111626" y="1720850"/>
            <a:ext cx="3968750" cy="396875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560676" y="394138"/>
            <a:ext cx="3631324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Diamonds Dataset Analysis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394138"/>
            <a:ext cx="36703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E3ECCC05-FF78-40FA-84FF-172821D8B5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248275" y="2857500"/>
            <a:ext cx="1695450" cy="169545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+mj-lt"/>
              </a:rPr>
              <a:t>Agenda</a:t>
            </a:r>
            <a:endParaRPr lang="en-US" b="1" dirty="0">
              <a:latin typeface="+mj-lt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6178536-4D8A-4FF2-BBDC-4B3E7E0FCF2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6943725" y="161387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Overview of Dataset</a:t>
            </a:r>
            <a:endParaRPr lang="en-US" sz="16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6F1356-9015-4B5C-9C64-3C1D963E5F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6832600" y="1514475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B7F2E37-0ACF-4E8A-9C1D-EC5B65BA29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7693025" y="333472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Analysis Question</a:t>
            </a:r>
            <a:endParaRPr lang="en-US" sz="16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8F812F5-70AF-4FBD-80D9-D59B3C456D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7490264" y="3235325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52C5002-7E64-4069-ACA0-6876E54A9B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6943725" y="5154978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Analysis Result</a:t>
            </a:r>
            <a:endParaRPr lang="en-US" sz="16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9C5F3A-6F0D-4A0F-AE6E-92F342C22AC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6832600" y="5055576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4A75A79-A67A-4A23-8588-7FC5EB9A518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1587500" y="161387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Pre-Processing Analysis</a:t>
            </a:r>
            <a:endParaRPr lang="en-US" sz="160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BC62739-FA35-49F8-8929-743B31F55A6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4419600" y="1514475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1BB375D-5EE6-4428-9817-2C7DB6B9433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703261" y="338442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Additional observations</a:t>
            </a:r>
            <a:endParaRPr lang="en-US" sz="160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3A511B7-C7F3-4107-9962-1E10D2E087D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3670300" y="3235325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4D7D4B6-62C2-45AB-89A5-3A41DA021FD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1475114" y="5158636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Diamond Related Data</a:t>
            </a:r>
            <a:endParaRPr lang="en-US" sz="160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3902602-D4BC-4D44-AC14-BB55A86C5D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4419600" y="5055576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" name="Group 30" descr="Icons of bar chart and line graph.">
            <a:extLst>
              <a:ext uri="{FF2B5EF4-FFF2-40B4-BE49-F238E27FC236}">
                <a16:creationId xmlns:a16="http://schemas.microsoft.com/office/drawing/2014/main" id="{044C3643-8A0E-47C1-BEB8-C73203B5E58D}"/>
              </a:ext>
            </a:extLst>
          </p:cNvPr>
          <p:cNvGrpSpPr/>
          <p:nvPr/>
        </p:nvGrpSpPr>
        <p:grpSpPr>
          <a:xfrm>
            <a:off x="4715661" y="1810536"/>
            <a:ext cx="347679" cy="347679"/>
            <a:chOff x="4319588" y="2492375"/>
            <a:chExt cx="287338" cy="287338"/>
          </a:xfrm>
          <a:solidFill>
            <a:schemeClr val="bg1"/>
          </a:solidFill>
        </p:grpSpPr>
        <p:sp>
          <p:nvSpPr>
            <p:cNvPr id="32" name="Freeform 372">
              <a:extLst>
                <a:ext uri="{FF2B5EF4-FFF2-40B4-BE49-F238E27FC236}">
                  <a16:creationId xmlns:a16="http://schemas.microsoft.com/office/drawing/2014/main" id="{56E8F5A5-5318-470B-8F42-337C26408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373">
              <a:extLst>
                <a:ext uri="{FF2B5EF4-FFF2-40B4-BE49-F238E27FC236}">
                  <a16:creationId xmlns:a16="http://schemas.microsoft.com/office/drawing/2014/main" id="{6AA1356D-8F1B-4281-BEC5-5B4EBF746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4" name="Freeform 1676" descr="Icon of check box. ">
            <a:extLst>
              <a:ext uri="{FF2B5EF4-FFF2-40B4-BE49-F238E27FC236}">
                <a16:creationId xmlns:a16="http://schemas.microsoft.com/office/drawing/2014/main" id="{6FB02354-C73F-4DCF-8004-E9CCA66963EA}"/>
              </a:ext>
            </a:extLst>
          </p:cNvPr>
          <p:cNvSpPr>
            <a:spLocks noEditPoints="1"/>
          </p:cNvSpPr>
          <p:nvPr/>
        </p:nvSpPr>
        <p:spPr bwMode="auto">
          <a:xfrm>
            <a:off x="7129621" y="1811496"/>
            <a:ext cx="345758" cy="345758"/>
          </a:xfrm>
          <a:custGeom>
            <a:avLst/>
            <a:gdLst>
              <a:gd name="T0" fmla="*/ 374 w 719"/>
              <a:gd name="T1" fmla="*/ 267 h 719"/>
              <a:gd name="T2" fmla="*/ 366 w 719"/>
              <a:gd name="T3" fmla="*/ 263 h 719"/>
              <a:gd name="T4" fmla="*/ 362 w 719"/>
              <a:gd name="T5" fmla="*/ 254 h 719"/>
              <a:gd name="T6" fmla="*/ 366 w 719"/>
              <a:gd name="T7" fmla="*/ 247 h 719"/>
              <a:gd name="T8" fmla="*/ 374 w 719"/>
              <a:gd name="T9" fmla="*/ 243 h 719"/>
              <a:gd name="T10" fmla="*/ 621 w 719"/>
              <a:gd name="T11" fmla="*/ 244 h 719"/>
              <a:gd name="T12" fmla="*/ 627 w 719"/>
              <a:gd name="T13" fmla="*/ 250 h 719"/>
              <a:gd name="T14" fmla="*/ 627 w 719"/>
              <a:gd name="T15" fmla="*/ 260 h 719"/>
              <a:gd name="T16" fmla="*/ 621 w 719"/>
              <a:gd name="T17" fmla="*/ 265 h 719"/>
              <a:gd name="T18" fmla="*/ 616 w 719"/>
              <a:gd name="T19" fmla="*/ 528 h 719"/>
              <a:gd name="T20" fmla="*/ 370 w 719"/>
              <a:gd name="T21" fmla="*/ 527 h 719"/>
              <a:gd name="T22" fmla="*/ 363 w 719"/>
              <a:gd name="T23" fmla="*/ 521 h 719"/>
              <a:gd name="T24" fmla="*/ 363 w 719"/>
              <a:gd name="T25" fmla="*/ 512 h 719"/>
              <a:gd name="T26" fmla="*/ 370 w 719"/>
              <a:gd name="T27" fmla="*/ 505 h 719"/>
              <a:gd name="T28" fmla="*/ 616 w 719"/>
              <a:gd name="T29" fmla="*/ 504 h 719"/>
              <a:gd name="T30" fmla="*/ 625 w 719"/>
              <a:gd name="T31" fmla="*/ 507 h 719"/>
              <a:gd name="T32" fmla="*/ 628 w 719"/>
              <a:gd name="T33" fmla="*/ 516 h 719"/>
              <a:gd name="T34" fmla="*/ 625 w 719"/>
              <a:gd name="T35" fmla="*/ 525 h 719"/>
              <a:gd name="T36" fmla="*/ 616 w 719"/>
              <a:gd name="T37" fmla="*/ 528 h 719"/>
              <a:gd name="T38" fmla="*/ 171 w 719"/>
              <a:gd name="T39" fmla="*/ 279 h 719"/>
              <a:gd name="T40" fmla="*/ 164 w 719"/>
              <a:gd name="T41" fmla="*/ 282 h 719"/>
              <a:gd name="T42" fmla="*/ 155 w 719"/>
              <a:gd name="T43" fmla="*/ 279 h 719"/>
              <a:gd name="T44" fmla="*/ 92 w 719"/>
              <a:gd name="T45" fmla="*/ 214 h 719"/>
              <a:gd name="T46" fmla="*/ 92 w 719"/>
              <a:gd name="T47" fmla="*/ 205 h 719"/>
              <a:gd name="T48" fmla="*/ 98 w 719"/>
              <a:gd name="T49" fmla="*/ 198 h 719"/>
              <a:gd name="T50" fmla="*/ 107 w 719"/>
              <a:gd name="T51" fmla="*/ 198 h 719"/>
              <a:gd name="T52" fmla="*/ 164 w 719"/>
              <a:gd name="T53" fmla="*/ 253 h 719"/>
              <a:gd name="T54" fmla="*/ 309 w 719"/>
              <a:gd name="T55" fmla="*/ 109 h 719"/>
              <a:gd name="T56" fmla="*/ 318 w 719"/>
              <a:gd name="T57" fmla="*/ 109 h 719"/>
              <a:gd name="T58" fmla="*/ 325 w 719"/>
              <a:gd name="T59" fmla="*/ 114 h 719"/>
              <a:gd name="T60" fmla="*/ 325 w 719"/>
              <a:gd name="T61" fmla="*/ 124 h 719"/>
              <a:gd name="T62" fmla="*/ 323 w 719"/>
              <a:gd name="T63" fmla="*/ 414 h 719"/>
              <a:gd name="T64" fmla="*/ 168 w 719"/>
              <a:gd name="T65" fmla="*/ 568 h 719"/>
              <a:gd name="T66" fmla="*/ 158 w 719"/>
              <a:gd name="T67" fmla="*/ 568 h 719"/>
              <a:gd name="T68" fmla="*/ 94 w 719"/>
              <a:gd name="T69" fmla="*/ 505 h 719"/>
              <a:gd name="T70" fmla="*/ 91 w 719"/>
              <a:gd name="T71" fmla="*/ 497 h 719"/>
              <a:gd name="T72" fmla="*/ 94 w 719"/>
              <a:gd name="T73" fmla="*/ 488 h 719"/>
              <a:gd name="T74" fmla="*/ 103 w 719"/>
              <a:gd name="T75" fmla="*/ 485 h 719"/>
              <a:gd name="T76" fmla="*/ 111 w 719"/>
              <a:gd name="T77" fmla="*/ 488 h 719"/>
              <a:gd name="T78" fmla="*/ 306 w 719"/>
              <a:gd name="T79" fmla="*/ 397 h 719"/>
              <a:gd name="T80" fmla="*/ 314 w 719"/>
              <a:gd name="T81" fmla="*/ 394 h 719"/>
              <a:gd name="T82" fmla="*/ 323 w 719"/>
              <a:gd name="T83" fmla="*/ 398 h 719"/>
              <a:gd name="T84" fmla="*/ 326 w 719"/>
              <a:gd name="T85" fmla="*/ 406 h 719"/>
              <a:gd name="T86" fmla="*/ 323 w 719"/>
              <a:gd name="T87" fmla="*/ 414 h 719"/>
              <a:gd name="T88" fmla="*/ 12 w 719"/>
              <a:gd name="T89" fmla="*/ 0 h 719"/>
              <a:gd name="T90" fmla="*/ 3 w 719"/>
              <a:gd name="T91" fmla="*/ 5 h 719"/>
              <a:gd name="T92" fmla="*/ 0 w 719"/>
              <a:gd name="T93" fmla="*/ 13 h 719"/>
              <a:gd name="T94" fmla="*/ 1 w 719"/>
              <a:gd name="T95" fmla="*/ 713 h 719"/>
              <a:gd name="T96" fmla="*/ 8 w 719"/>
              <a:gd name="T97" fmla="*/ 719 h 719"/>
              <a:gd name="T98" fmla="*/ 707 w 719"/>
              <a:gd name="T99" fmla="*/ 719 h 719"/>
              <a:gd name="T100" fmla="*/ 716 w 719"/>
              <a:gd name="T101" fmla="*/ 716 h 719"/>
              <a:gd name="T102" fmla="*/ 719 w 719"/>
              <a:gd name="T103" fmla="*/ 707 h 719"/>
              <a:gd name="T104" fmla="*/ 718 w 719"/>
              <a:gd name="T105" fmla="*/ 8 h 719"/>
              <a:gd name="T106" fmla="*/ 711 w 719"/>
              <a:gd name="T107" fmla="*/ 2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719" h="719">
                <a:moveTo>
                  <a:pt x="616" y="267"/>
                </a:moveTo>
                <a:lnTo>
                  <a:pt x="374" y="267"/>
                </a:lnTo>
                <a:lnTo>
                  <a:pt x="370" y="265"/>
                </a:lnTo>
                <a:lnTo>
                  <a:pt x="366" y="263"/>
                </a:lnTo>
                <a:lnTo>
                  <a:pt x="363" y="260"/>
                </a:lnTo>
                <a:lnTo>
                  <a:pt x="362" y="254"/>
                </a:lnTo>
                <a:lnTo>
                  <a:pt x="363" y="250"/>
                </a:lnTo>
                <a:lnTo>
                  <a:pt x="366" y="247"/>
                </a:lnTo>
                <a:lnTo>
                  <a:pt x="370" y="244"/>
                </a:lnTo>
                <a:lnTo>
                  <a:pt x="374" y="243"/>
                </a:lnTo>
                <a:lnTo>
                  <a:pt x="616" y="243"/>
                </a:lnTo>
                <a:lnTo>
                  <a:pt x="621" y="244"/>
                </a:lnTo>
                <a:lnTo>
                  <a:pt x="625" y="247"/>
                </a:lnTo>
                <a:lnTo>
                  <a:pt x="627" y="250"/>
                </a:lnTo>
                <a:lnTo>
                  <a:pt x="628" y="254"/>
                </a:lnTo>
                <a:lnTo>
                  <a:pt x="627" y="260"/>
                </a:lnTo>
                <a:lnTo>
                  <a:pt x="625" y="263"/>
                </a:lnTo>
                <a:lnTo>
                  <a:pt x="621" y="265"/>
                </a:lnTo>
                <a:lnTo>
                  <a:pt x="616" y="267"/>
                </a:lnTo>
                <a:close/>
                <a:moveTo>
                  <a:pt x="616" y="528"/>
                </a:moveTo>
                <a:lnTo>
                  <a:pt x="374" y="528"/>
                </a:lnTo>
                <a:lnTo>
                  <a:pt x="370" y="527"/>
                </a:lnTo>
                <a:lnTo>
                  <a:pt x="366" y="525"/>
                </a:lnTo>
                <a:lnTo>
                  <a:pt x="363" y="521"/>
                </a:lnTo>
                <a:lnTo>
                  <a:pt x="362" y="516"/>
                </a:lnTo>
                <a:lnTo>
                  <a:pt x="363" y="512"/>
                </a:lnTo>
                <a:lnTo>
                  <a:pt x="366" y="507"/>
                </a:lnTo>
                <a:lnTo>
                  <a:pt x="370" y="505"/>
                </a:lnTo>
                <a:lnTo>
                  <a:pt x="374" y="504"/>
                </a:lnTo>
                <a:lnTo>
                  <a:pt x="616" y="504"/>
                </a:lnTo>
                <a:lnTo>
                  <a:pt x="621" y="505"/>
                </a:lnTo>
                <a:lnTo>
                  <a:pt x="625" y="507"/>
                </a:lnTo>
                <a:lnTo>
                  <a:pt x="627" y="512"/>
                </a:lnTo>
                <a:lnTo>
                  <a:pt x="628" y="516"/>
                </a:lnTo>
                <a:lnTo>
                  <a:pt x="627" y="521"/>
                </a:lnTo>
                <a:lnTo>
                  <a:pt x="625" y="525"/>
                </a:lnTo>
                <a:lnTo>
                  <a:pt x="621" y="527"/>
                </a:lnTo>
                <a:lnTo>
                  <a:pt x="616" y="528"/>
                </a:lnTo>
                <a:close/>
                <a:moveTo>
                  <a:pt x="323" y="127"/>
                </a:moveTo>
                <a:lnTo>
                  <a:pt x="171" y="279"/>
                </a:lnTo>
                <a:lnTo>
                  <a:pt x="168" y="282"/>
                </a:lnTo>
                <a:lnTo>
                  <a:pt x="164" y="282"/>
                </a:lnTo>
                <a:lnTo>
                  <a:pt x="158" y="282"/>
                </a:lnTo>
                <a:lnTo>
                  <a:pt x="155" y="279"/>
                </a:lnTo>
                <a:lnTo>
                  <a:pt x="94" y="218"/>
                </a:lnTo>
                <a:lnTo>
                  <a:pt x="92" y="214"/>
                </a:lnTo>
                <a:lnTo>
                  <a:pt x="91" y="209"/>
                </a:lnTo>
                <a:lnTo>
                  <a:pt x="92" y="205"/>
                </a:lnTo>
                <a:lnTo>
                  <a:pt x="94" y="201"/>
                </a:lnTo>
                <a:lnTo>
                  <a:pt x="98" y="198"/>
                </a:lnTo>
                <a:lnTo>
                  <a:pt x="103" y="197"/>
                </a:lnTo>
                <a:lnTo>
                  <a:pt x="107" y="198"/>
                </a:lnTo>
                <a:lnTo>
                  <a:pt x="111" y="201"/>
                </a:lnTo>
                <a:lnTo>
                  <a:pt x="164" y="253"/>
                </a:lnTo>
                <a:lnTo>
                  <a:pt x="306" y="111"/>
                </a:lnTo>
                <a:lnTo>
                  <a:pt x="309" y="109"/>
                </a:lnTo>
                <a:lnTo>
                  <a:pt x="314" y="108"/>
                </a:lnTo>
                <a:lnTo>
                  <a:pt x="318" y="109"/>
                </a:lnTo>
                <a:lnTo>
                  <a:pt x="323" y="111"/>
                </a:lnTo>
                <a:lnTo>
                  <a:pt x="325" y="114"/>
                </a:lnTo>
                <a:lnTo>
                  <a:pt x="326" y="119"/>
                </a:lnTo>
                <a:lnTo>
                  <a:pt x="325" y="124"/>
                </a:lnTo>
                <a:lnTo>
                  <a:pt x="323" y="127"/>
                </a:lnTo>
                <a:close/>
                <a:moveTo>
                  <a:pt x="323" y="414"/>
                </a:moveTo>
                <a:lnTo>
                  <a:pt x="171" y="565"/>
                </a:lnTo>
                <a:lnTo>
                  <a:pt x="168" y="568"/>
                </a:lnTo>
                <a:lnTo>
                  <a:pt x="164" y="569"/>
                </a:lnTo>
                <a:lnTo>
                  <a:pt x="158" y="568"/>
                </a:lnTo>
                <a:lnTo>
                  <a:pt x="155" y="565"/>
                </a:lnTo>
                <a:lnTo>
                  <a:pt x="94" y="505"/>
                </a:lnTo>
                <a:lnTo>
                  <a:pt x="92" y="502"/>
                </a:lnTo>
                <a:lnTo>
                  <a:pt x="91" y="497"/>
                </a:lnTo>
                <a:lnTo>
                  <a:pt x="92" y="493"/>
                </a:lnTo>
                <a:lnTo>
                  <a:pt x="94" y="488"/>
                </a:lnTo>
                <a:lnTo>
                  <a:pt x="98" y="486"/>
                </a:lnTo>
                <a:lnTo>
                  <a:pt x="103" y="485"/>
                </a:lnTo>
                <a:lnTo>
                  <a:pt x="107" y="486"/>
                </a:lnTo>
                <a:lnTo>
                  <a:pt x="111" y="488"/>
                </a:lnTo>
                <a:lnTo>
                  <a:pt x="164" y="540"/>
                </a:lnTo>
                <a:lnTo>
                  <a:pt x="306" y="397"/>
                </a:lnTo>
                <a:lnTo>
                  <a:pt x="309" y="395"/>
                </a:lnTo>
                <a:lnTo>
                  <a:pt x="314" y="394"/>
                </a:lnTo>
                <a:lnTo>
                  <a:pt x="318" y="395"/>
                </a:lnTo>
                <a:lnTo>
                  <a:pt x="323" y="398"/>
                </a:lnTo>
                <a:lnTo>
                  <a:pt x="325" y="401"/>
                </a:lnTo>
                <a:lnTo>
                  <a:pt x="326" y="406"/>
                </a:lnTo>
                <a:lnTo>
                  <a:pt x="325" y="410"/>
                </a:lnTo>
                <a:lnTo>
                  <a:pt x="323" y="414"/>
                </a:lnTo>
                <a:close/>
                <a:moveTo>
                  <a:pt x="707" y="0"/>
                </a:moveTo>
                <a:lnTo>
                  <a:pt x="12" y="0"/>
                </a:lnTo>
                <a:lnTo>
                  <a:pt x="8" y="2"/>
                </a:lnTo>
                <a:lnTo>
                  <a:pt x="3" y="5"/>
                </a:lnTo>
                <a:lnTo>
                  <a:pt x="1" y="8"/>
                </a:lnTo>
                <a:lnTo>
                  <a:pt x="0" y="13"/>
                </a:lnTo>
                <a:lnTo>
                  <a:pt x="0" y="707"/>
                </a:lnTo>
                <a:lnTo>
                  <a:pt x="1" y="713"/>
                </a:lnTo>
                <a:lnTo>
                  <a:pt x="3" y="716"/>
                </a:lnTo>
                <a:lnTo>
                  <a:pt x="8" y="719"/>
                </a:lnTo>
                <a:lnTo>
                  <a:pt x="12" y="719"/>
                </a:lnTo>
                <a:lnTo>
                  <a:pt x="707" y="719"/>
                </a:lnTo>
                <a:lnTo>
                  <a:pt x="711" y="719"/>
                </a:lnTo>
                <a:lnTo>
                  <a:pt x="716" y="716"/>
                </a:lnTo>
                <a:lnTo>
                  <a:pt x="718" y="713"/>
                </a:lnTo>
                <a:lnTo>
                  <a:pt x="719" y="707"/>
                </a:lnTo>
                <a:lnTo>
                  <a:pt x="719" y="13"/>
                </a:lnTo>
                <a:lnTo>
                  <a:pt x="718" y="8"/>
                </a:lnTo>
                <a:lnTo>
                  <a:pt x="716" y="5"/>
                </a:lnTo>
                <a:lnTo>
                  <a:pt x="711" y="2"/>
                </a:lnTo>
                <a:lnTo>
                  <a:pt x="70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5" name="Freeform 4665" descr="Icon of graph. ">
            <a:extLst>
              <a:ext uri="{FF2B5EF4-FFF2-40B4-BE49-F238E27FC236}">
                <a16:creationId xmlns:a16="http://schemas.microsoft.com/office/drawing/2014/main" id="{557E39B2-E017-4E5C-B53E-DDE3B9D4C92C}"/>
              </a:ext>
            </a:extLst>
          </p:cNvPr>
          <p:cNvSpPr>
            <a:spLocks/>
          </p:cNvSpPr>
          <p:nvPr/>
        </p:nvSpPr>
        <p:spPr bwMode="auto">
          <a:xfrm>
            <a:off x="7877961" y="3531386"/>
            <a:ext cx="347679" cy="347679"/>
          </a:xfrm>
          <a:custGeom>
            <a:avLst/>
            <a:gdLst>
              <a:gd name="T0" fmla="*/ 761 w 904"/>
              <a:gd name="T1" fmla="*/ 213 h 903"/>
              <a:gd name="T2" fmla="*/ 754 w 904"/>
              <a:gd name="T3" fmla="*/ 225 h 903"/>
              <a:gd name="T4" fmla="*/ 576 w 904"/>
              <a:gd name="T5" fmla="*/ 277 h 903"/>
              <a:gd name="T6" fmla="*/ 498 w 904"/>
              <a:gd name="T7" fmla="*/ 298 h 903"/>
              <a:gd name="T8" fmla="*/ 431 w 904"/>
              <a:gd name="T9" fmla="*/ 329 h 903"/>
              <a:gd name="T10" fmla="*/ 578 w 904"/>
              <a:gd name="T11" fmla="*/ 170 h 903"/>
              <a:gd name="T12" fmla="*/ 618 w 904"/>
              <a:gd name="T13" fmla="*/ 180 h 903"/>
              <a:gd name="T14" fmla="*/ 661 w 904"/>
              <a:gd name="T15" fmla="*/ 169 h 903"/>
              <a:gd name="T16" fmla="*/ 693 w 904"/>
              <a:gd name="T17" fmla="*/ 141 h 903"/>
              <a:gd name="T18" fmla="*/ 707 w 904"/>
              <a:gd name="T19" fmla="*/ 99 h 903"/>
              <a:gd name="T20" fmla="*/ 701 w 904"/>
              <a:gd name="T21" fmla="*/ 55 h 903"/>
              <a:gd name="T22" fmla="*/ 676 w 904"/>
              <a:gd name="T23" fmla="*/ 20 h 903"/>
              <a:gd name="T24" fmla="*/ 636 w 904"/>
              <a:gd name="T25" fmla="*/ 2 h 903"/>
              <a:gd name="T26" fmla="*/ 591 w 904"/>
              <a:gd name="T27" fmla="*/ 4 h 903"/>
              <a:gd name="T28" fmla="*/ 554 w 904"/>
              <a:gd name="T29" fmla="*/ 25 h 903"/>
              <a:gd name="T30" fmla="*/ 531 w 904"/>
              <a:gd name="T31" fmla="*/ 63 h 903"/>
              <a:gd name="T32" fmla="*/ 532 w 904"/>
              <a:gd name="T33" fmla="*/ 118 h 903"/>
              <a:gd name="T34" fmla="*/ 369 w 904"/>
              <a:gd name="T35" fmla="*/ 289 h 903"/>
              <a:gd name="T36" fmla="*/ 325 w 904"/>
              <a:gd name="T37" fmla="*/ 289 h 903"/>
              <a:gd name="T38" fmla="*/ 294 w 904"/>
              <a:gd name="T39" fmla="*/ 308 h 903"/>
              <a:gd name="T40" fmla="*/ 275 w 904"/>
              <a:gd name="T41" fmla="*/ 338 h 903"/>
              <a:gd name="T42" fmla="*/ 275 w 904"/>
              <a:gd name="T43" fmla="*/ 383 h 903"/>
              <a:gd name="T44" fmla="*/ 113 w 904"/>
              <a:gd name="T45" fmla="*/ 545 h 903"/>
              <a:gd name="T46" fmla="*/ 64 w 904"/>
              <a:gd name="T47" fmla="*/ 546 h 903"/>
              <a:gd name="T48" fmla="*/ 26 w 904"/>
              <a:gd name="T49" fmla="*/ 568 h 903"/>
              <a:gd name="T50" fmla="*/ 5 w 904"/>
              <a:gd name="T51" fmla="*/ 605 h 903"/>
              <a:gd name="T52" fmla="*/ 3 w 904"/>
              <a:gd name="T53" fmla="*/ 650 h 903"/>
              <a:gd name="T54" fmla="*/ 21 w 904"/>
              <a:gd name="T55" fmla="*/ 690 h 903"/>
              <a:gd name="T56" fmla="*/ 56 w 904"/>
              <a:gd name="T57" fmla="*/ 716 h 903"/>
              <a:gd name="T58" fmla="*/ 100 w 904"/>
              <a:gd name="T59" fmla="*/ 722 h 903"/>
              <a:gd name="T60" fmla="*/ 142 w 904"/>
              <a:gd name="T61" fmla="*/ 706 h 903"/>
              <a:gd name="T62" fmla="*/ 170 w 904"/>
              <a:gd name="T63" fmla="*/ 675 h 903"/>
              <a:gd name="T64" fmla="*/ 181 w 904"/>
              <a:gd name="T65" fmla="*/ 632 h 903"/>
              <a:gd name="T66" fmla="*/ 171 w 904"/>
              <a:gd name="T67" fmla="*/ 591 h 903"/>
              <a:gd name="T68" fmla="*/ 316 w 904"/>
              <a:gd name="T69" fmla="*/ 430 h 903"/>
              <a:gd name="T70" fmla="*/ 286 w 904"/>
              <a:gd name="T71" fmla="*/ 538 h 903"/>
              <a:gd name="T72" fmla="*/ 271 w 904"/>
              <a:gd name="T73" fmla="*/ 753 h 903"/>
              <a:gd name="T74" fmla="*/ 216 w 904"/>
              <a:gd name="T75" fmla="*/ 757 h 903"/>
              <a:gd name="T76" fmla="*/ 212 w 904"/>
              <a:gd name="T77" fmla="*/ 888 h 903"/>
              <a:gd name="T78" fmla="*/ 218 w 904"/>
              <a:gd name="T79" fmla="*/ 901 h 903"/>
              <a:gd name="T80" fmla="*/ 349 w 904"/>
              <a:gd name="T81" fmla="*/ 903 h 903"/>
              <a:gd name="T82" fmla="*/ 361 w 904"/>
              <a:gd name="T83" fmla="*/ 894 h 903"/>
              <a:gd name="T84" fmla="*/ 361 w 904"/>
              <a:gd name="T85" fmla="*/ 762 h 903"/>
              <a:gd name="T86" fmla="*/ 349 w 904"/>
              <a:gd name="T87" fmla="*/ 753 h 903"/>
              <a:gd name="T88" fmla="*/ 305 w 904"/>
              <a:gd name="T89" fmla="*/ 597 h 903"/>
              <a:gd name="T90" fmla="*/ 343 w 904"/>
              <a:gd name="T91" fmla="*/ 469 h 903"/>
              <a:gd name="T92" fmla="*/ 383 w 904"/>
              <a:gd name="T93" fmla="*/ 426 h 903"/>
              <a:gd name="T94" fmla="*/ 418 w 904"/>
              <a:gd name="T95" fmla="*/ 383 h 903"/>
              <a:gd name="T96" fmla="*/ 471 w 904"/>
              <a:gd name="T97" fmla="*/ 342 h 903"/>
              <a:gd name="T98" fmla="*/ 544 w 904"/>
              <a:gd name="T99" fmla="*/ 315 h 903"/>
              <a:gd name="T100" fmla="*/ 627 w 904"/>
              <a:gd name="T101" fmla="*/ 302 h 903"/>
              <a:gd name="T102" fmla="*/ 754 w 904"/>
              <a:gd name="T103" fmla="*/ 348 h 903"/>
              <a:gd name="T104" fmla="*/ 763 w 904"/>
              <a:gd name="T105" fmla="*/ 360 h 903"/>
              <a:gd name="T106" fmla="*/ 895 w 904"/>
              <a:gd name="T107" fmla="*/ 360 h 903"/>
              <a:gd name="T108" fmla="*/ 904 w 904"/>
              <a:gd name="T109" fmla="*/ 348 h 903"/>
              <a:gd name="T110" fmla="*/ 902 w 904"/>
              <a:gd name="T111" fmla="*/ 217 h 903"/>
              <a:gd name="T112" fmla="*/ 889 w 904"/>
              <a:gd name="T113" fmla="*/ 211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04" h="903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36" name="Group 35" descr="Icon of human being and gear. ">
            <a:extLst>
              <a:ext uri="{FF2B5EF4-FFF2-40B4-BE49-F238E27FC236}">
                <a16:creationId xmlns:a16="http://schemas.microsoft.com/office/drawing/2014/main" id="{ECC5F635-1712-4572-A9EC-F94E2199DDBD}"/>
              </a:ext>
            </a:extLst>
          </p:cNvPr>
          <p:cNvGrpSpPr/>
          <p:nvPr/>
        </p:nvGrpSpPr>
        <p:grpSpPr>
          <a:xfrm>
            <a:off x="7133464" y="5355478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reeform 3673">
              <a:extLst>
                <a:ext uri="{FF2B5EF4-FFF2-40B4-BE49-F238E27FC236}">
                  <a16:creationId xmlns:a16="http://schemas.microsoft.com/office/drawing/2014/main" id="{D1391604-D4EC-48A8-AE57-EDF19439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674">
              <a:extLst>
                <a:ext uri="{FF2B5EF4-FFF2-40B4-BE49-F238E27FC236}">
                  <a16:creationId xmlns:a16="http://schemas.microsoft.com/office/drawing/2014/main" id="{44A4D0F8-0767-41BC-BE62-0AED99EC8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9" name="Group 38" descr="Icon of gears. ">
            <a:extLst>
              <a:ext uri="{FF2B5EF4-FFF2-40B4-BE49-F238E27FC236}">
                <a16:creationId xmlns:a16="http://schemas.microsoft.com/office/drawing/2014/main" id="{5BC0E3F0-447D-4721-AB1F-C8243BA36671}"/>
              </a:ext>
            </a:extLst>
          </p:cNvPr>
          <p:cNvGrpSpPr/>
          <p:nvPr/>
        </p:nvGrpSpPr>
        <p:grpSpPr>
          <a:xfrm>
            <a:off x="4717582" y="5353558"/>
            <a:ext cx="343837" cy="343837"/>
            <a:chOff x="7613650" y="1387475"/>
            <a:chExt cx="284163" cy="284163"/>
          </a:xfrm>
          <a:solidFill>
            <a:schemeClr val="bg1"/>
          </a:solidFill>
        </p:grpSpPr>
        <p:sp>
          <p:nvSpPr>
            <p:cNvPr id="40" name="Freeform 4359">
              <a:extLst>
                <a:ext uri="{FF2B5EF4-FFF2-40B4-BE49-F238E27FC236}">
                  <a16:creationId xmlns:a16="http://schemas.microsoft.com/office/drawing/2014/main" id="{351831F3-9830-4A23-8B34-11A3FCCA02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3650" y="1471613"/>
              <a:ext cx="200025" cy="200025"/>
            </a:xfrm>
            <a:custGeom>
              <a:avLst/>
              <a:gdLst>
                <a:gd name="T0" fmla="*/ 276 w 629"/>
                <a:gd name="T1" fmla="*/ 436 h 629"/>
                <a:gd name="T2" fmla="*/ 233 w 629"/>
                <a:gd name="T3" fmla="*/ 411 h 629"/>
                <a:gd name="T4" fmla="*/ 202 w 629"/>
                <a:gd name="T5" fmla="*/ 374 h 629"/>
                <a:gd name="T6" fmla="*/ 187 w 629"/>
                <a:gd name="T7" fmla="*/ 325 h 629"/>
                <a:gd name="T8" fmla="*/ 192 w 629"/>
                <a:gd name="T9" fmla="*/ 274 h 629"/>
                <a:gd name="T10" fmla="*/ 216 w 629"/>
                <a:gd name="T11" fmla="*/ 231 h 629"/>
                <a:gd name="T12" fmla="*/ 253 w 629"/>
                <a:gd name="T13" fmla="*/ 199 h 629"/>
                <a:gd name="T14" fmla="*/ 301 w 629"/>
                <a:gd name="T15" fmla="*/ 184 h 629"/>
                <a:gd name="T16" fmla="*/ 352 w 629"/>
                <a:gd name="T17" fmla="*/ 190 h 629"/>
                <a:gd name="T18" fmla="*/ 395 w 629"/>
                <a:gd name="T19" fmla="*/ 213 h 629"/>
                <a:gd name="T20" fmla="*/ 426 w 629"/>
                <a:gd name="T21" fmla="*/ 252 h 629"/>
                <a:gd name="T22" fmla="*/ 441 w 629"/>
                <a:gd name="T23" fmla="*/ 300 h 629"/>
                <a:gd name="T24" fmla="*/ 436 w 629"/>
                <a:gd name="T25" fmla="*/ 350 h 629"/>
                <a:gd name="T26" fmla="*/ 413 w 629"/>
                <a:gd name="T27" fmla="*/ 394 h 629"/>
                <a:gd name="T28" fmla="*/ 375 w 629"/>
                <a:gd name="T29" fmla="*/ 425 h 629"/>
                <a:gd name="T30" fmla="*/ 327 w 629"/>
                <a:gd name="T31" fmla="*/ 440 h 629"/>
                <a:gd name="T32" fmla="*/ 572 w 629"/>
                <a:gd name="T33" fmla="*/ 346 h 629"/>
                <a:gd name="T34" fmla="*/ 574 w 629"/>
                <a:gd name="T35" fmla="*/ 302 h 629"/>
                <a:gd name="T36" fmla="*/ 620 w 629"/>
                <a:gd name="T37" fmla="*/ 241 h 629"/>
                <a:gd name="T38" fmla="*/ 628 w 629"/>
                <a:gd name="T39" fmla="*/ 231 h 629"/>
                <a:gd name="T40" fmla="*/ 625 w 629"/>
                <a:gd name="T41" fmla="*/ 219 h 629"/>
                <a:gd name="T42" fmla="*/ 544 w 629"/>
                <a:gd name="T43" fmla="*/ 84 h 629"/>
                <a:gd name="T44" fmla="*/ 532 w 629"/>
                <a:gd name="T45" fmla="*/ 83 h 629"/>
                <a:gd name="T46" fmla="*/ 447 w 629"/>
                <a:gd name="T47" fmla="*/ 88 h 629"/>
                <a:gd name="T48" fmla="*/ 407 w 629"/>
                <a:gd name="T49" fmla="*/ 69 h 629"/>
                <a:gd name="T50" fmla="*/ 404 w 629"/>
                <a:gd name="T51" fmla="*/ 7 h 629"/>
                <a:gd name="T52" fmla="*/ 395 w 629"/>
                <a:gd name="T53" fmla="*/ 0 h 629"/>
                <a:gd name="T54" fmla="*/ 235 w 629"/>
                <a:gd name="T55" fmla="*/ 1 h 629"/>
                <a:gd name="T56" fmla="*/ 227 w 629"/>
                <a:gd name="T57" fmla="*/ 10 h 629"/>
                <a:gd name="T58" fmla="*/ 216 w 629"/>
                <a:gd name="T59" fmla="*/ 72 h 629"/>
                <a:gd name="T60" fmla="*/ 177 w 629"/>
                <a:gd name="T61" fmla="*/ 91 h 629"/>
                <a:gd name="T62" fmla="*/ 98 w 629"/>
                <a:gd name="T63" fmla="*/ 84 h 629"/>
                <a:gd name="T64" fmla="*/ 87 w 629"/>
                <a:gd name="T65" fmla="*/ 83 h 629"/>
                <a:gd name="T66" fmla="*/ 78 w 629"/>
                <a:gd name="T67" fmla="*/ 90 h 629"/>
                <a:gd name="T68" fmla="*/ 1 w 629"/>
                <a:gd name="T69" fmla="*/ 228 h 629"/>
                <a:gd name="T70" fmla="*/ 57 w 629"/>
                <a:gd name="T71" fmla="*/ 269 h 629"/>
                <a:gd name="T72" fmla="*/ 54 w 629"/>
                <a:gd name="T73" fmla="*/ 313 h 629"/>
                <a:gd name="T74" fmla="*/ 57 w 629"/>
                <a:gd name="T75" fmla="*/ 355 h 629"/>
                <a:gd name="T76" fmla="*/ 2 w 629"/>
                <a:gd name="T77" fmla="*/ 391 h 629"/>
                <a:gd name="T78" fmla="*/ 1 w 629"/>
                <a:gd name="T79" fmla="*/ 402 h 629"/>
                <a:gd name="T80" fmla="*/ 86 w 629"/>
                <a:gd name="T81" fmla="*/ 543 h 629"/>
                <a:gd name="T82" fmla="*/ 98 w 629"/>
                <a:gd name="T83" fmla="*/ 542 h 629"/>
                <a:gd name="T84" fmla="*/ 177 w 629"/>
                <a:gd name="T85" fmla="*/ 533 h 629"/>
                <a:gd name="T86" fmla="*/ 216 w 629"/>
                <a:gd name="T87" fmla="*/ 552 h 629"/>
                <a:gd name="T88" fmla="*/ 227 w 629"/>
                <a:gd name="T89" fmla="*/ 620 h 629"/>
                <a:gd name="T90" fmla="*/ 235 w 629"/>
                <a:gd name="T91" fmla="*/ 628 h 629"/>
                <a:gd name="T92" fmla="*/ 395 w 629"/>
                <a:gd name="T93" fmla="*/ 629 h 629"/>
                <a:gd name="T94" fmla="*/ 404 w 629"/>
                <a:gd name="T95" fmla="*/ 623 h 629"/>
                <a:gd name="T96" fmla="*/ 407 w 629"/>
                <a:gd name="T97" fmla="*/ 556 h 629"/>
                <a:gd name="T98" fmla="*/ 447 w 629"/>
                <a:gd name="T99" fmla="*/ 538 h 629"/>
                <a:gd name="T100" fmla="*/ 533 w 629"/>
                <a:gd name="T101" fmla="*/ 543 h 629"/>
                <a:gd name="T102" fmla="*/ 545 w 629"/>
                <a:gd name="T103" fmla="*/ 543 h 629"/>
                <a:gd name="T104" fmla="*/ 627 w 629"/>
                <a:gd name="T105" fmla="*/ 405 h 629"/>
                <a:gd name="T106" fmla="*/ 628 w 629"/>
                <a:gd name="T107" fmla="*/ 394 h 629"/>
                <a:gd name="T108" fmla="*/ 621 w 629"/>
                <a:gd name="T109" fmla="*/ 38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29" h="629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4360">
              <a:extLst>
                <a:ext uri="{FF2B5EF4-FFF2-40B4-BE49-F238E27FC236}">
                  <a16:creationId xmlns:a16="http://schemas.microsoft.com/office/drawing/2014/main" id="{CDB8F87B-81A2-480F-ADA8-BFB5FD890A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81925" y="1387475"/>
              <a:ext cx="115888" cy="117475"/>
            </a:xfrm>
            <a:custGeom>
              <a:avLst/>
              <a:gdLst>
                <a:gd name="T0" fmla="*/ 160 w 362"/>
                <a:gd name="T1" fmla="*/ 252 h 369"/>
                <a:gd name="T2" fmla="*/ 135 w 362"/>
                <a:gd name="T3" fmla="*/ 238 h 369"/>
                <a:gd name="T4" fmla="*/ 118 w 362"/>
                <a:gd name="T5" fmla="*/ 218 h 369"/>
                <a:gd name="T6" fmla="*/ 109 w 362"/>
                <a:gd name="T7" fmla="*/ 190 h 369"/>
                <a:gd name="T8" fmla="*/ 113 w 362"/>
                <a:gd name="T9" fmla="*/ 162 h 369"/>
                <a:gd name="T10" fmla="*/ 125 w 362"/>
                <a:gd name="T11" fmla="*/ 138 h 369"/>
                <a:gd name="T12" fmla="*/ 147 w 362"/>
                <a:gd name="T13" fmla="*/ 121 h 369"/>
                <a:gd name="T14" fmla="*/ 174 w 362"/>
                <a:gd name="T15" fmla="*/ 112 h 369"/>
                <a:gd name="T16" fmla="*/ 202 w 362"/>
                <a:gd name="T17" fmla="*/ 114 h 369"/>
                <a:gd name="T18" fmla="*/ 226 w 362"/>
                <a:gd name="T19" fmla="*/ 128 h 369"/>
                <a:gd name="T20" fmla="*/ 244 w 362"/>
                <a:gd name="T21" fmla="*/ 149 h 369"/>
                <a:gd name="T22" fmla="*/ 252 w 362"/>
                <a:gd name="T23" fmla="*/ 176 h 369"/>
                <a:gd name="T24" fmla="*/ 250 w 362"/>
                <a:gd name="T25" fmla="*/ 205 h 369"/>
                <a:gd name="T26" fmla="*/ 236 w 362"/>
                <a:gd name="T27" fmla="*/ 229 h 369"/>
                <a:gd name="T28" fmla="*/ 215 w 362"/>
                <a:gd name="T29" fmla="*/ 247 h 369"/>
                <a:gd name="T30" fmla="*/ 189 w 362"/>
                <a:gd name="T31" fmla="*/ 254 h 369"/>
                <a:gd name="T32" fmla="*/ 328 w 362"/>
                <a:gd name="T33" fmla="*/ 195 h 369"/>
                <a:gd name="T34" fmla="*/ 354 w 362"/>
                <a:gd name="T35" fmla="*/ 144 h 369"/>
                <a:gd name="T36" fmla="*/ 361 w 362"/>
                <a:gd name="T37" fmla="*/ 136 h 369"/>
                <a:gd name="T38" fmla="*/ 360 w 362"/>
                <a:gd name="T39" fmla="*/ 124 h 369"/>
                <a:gd name="T40" fmla="*/ 316 w 362"/>
                <a:gd name="T41" fmla="*/ 53 h 369"/>
                <a:gd name="T42" fmla="*/ 304 w 362"/>
                <a:gd name="T43" fmla="*/ 52 h 369"/>
                <a:gd name="T44" fmla="*/ 256 w 362"/>
                <a:gd name="T45" fmla="*/ 56 h 369"/>
                <a:gd name="T46" fmla="*/ 236 w 362"/>
                <a:gd name="T47" fmla="*/ 10 h 369"/>
                <a:gd name="T48" fmla="*/ 229 w 362"/>
                <a:gd name="T49" fmla="*/ 2 h 369"/>
                <a:gd name="T50" fmla="*/ 146 w 362"/>
                <a:gd name="T51" fmla="*/ 0 h 369"/>
                <a:gd name="T52" fmla="*/ 135 w 362"/>
                <a:gd name="T53" fmla="*/ 3 h 369"/>
                <a:gd name="T54" fmla="*/ 131 w 362"/>
                <a:gd name="T55" fmla="*/ 14 h 369"/>
                <a:gd name="T56" fmla="*/ 99 w 362"/>
                <a:gd name="T57" fmla="*/ 63 h 369"/>
                <a:gd name="T58" fmla="*/ 55 w 362"/>
                <a:gd name="T59" fmla="*/ 51 h 369"/>
                <a:gd name="T60" fmla="*/ 44 w 362"/>
                <a:gd name="T61" fmla="*/ 54 h 369"/>
                <a:gd name="T62" fmla="*/ 1 w 362"/>
                <a:gd name="T63" fmla="*/ 126 h 369"/>
                <a:gd name="T64" fmla="*/ 2 w 362"/>
                <a:gd name="T65" fmla="*/ 139 h 369"/>
                <a:gd name="T66" fmla="*/ 36 w 362"/>
                <a:gd name="T67" fmla="*/ 160 h 369"/>
                <a:gd name="T68" fmla="*/ 36 w 362"/>
                <a:gd name="T69" fmla="*/ 207 h 369"/>
                <a:gd name="T70" fmla="*/ 1 w 362"/>
                <a:gd name="T71" fmla="*/ 230 h 369"/>
                <a:gd name="T72" fmla="*/ 1 w 362"/>
                <a:gd name="T73" fmla="*/ 240 h 369"/>
                <a:gd name="T74" fmla="*/ 44 w 362"/>
                <a:gd name="T75" fmla="*/ 313 h 369"/>
                <a:gd name="T76" fmla="*/ 60 w 362"/>
                <a:gd name="T77" fmla="*/ 314 h 369"/>
                <a:gd name="T78" fmla="*/ 120 w 362"/>
                <a:gd name="T79" fmla="*/ 316 h 369"/>
                <a:gd name="T80" fmla="*/ 132 w 362"/>
                <a:gd name="T81" fmla="*/ 359 h 369"/>
                <a:gd name="T82" fmla="*/ 140 w 362"/>
                <a:gd name="T83" fmla="*/ 368 h 369"/>
                <a:gd name="T84" fmla="*/ 225 w 362"/>
                <a:gd name="T85" fmla="*/ 368 h 369"/>
                <a:gd name="T86" fmla="*/ 233 w 362"/>
                <a:gd name="T87" fmla="*/ 361 h 369"/>
                <a:gd name="T88" fmla="*/ 237 w 362"/>
                <a:gd name="T89" fmla="*/ 321 h 369"/>
                <a:gd name="T90" fmla="*/ 274 w 362"/>
                <a:gd name="T91" fmla="*/ 298 h 369"/>
                <a:gd name="T92" fmla="*/ 310 w 362"/>
                <a:gd name="T93" fmla="*/ 316 h 369"/>
                <a:gd name="T94" fmla="*/ 360 w 362"/>
                <a:gd name="T95" fmla="*/ 243 h 369"/>
                <a:gd name="T96" fmla="*/ 362 w 362"/>
                <a:gd name="T97" fmla="*/ 232 h 369"/>
                <a:gd name="T98" fmla="*/ 354 w 362"/>
                <a:gd name="T99" fmla="*/ 22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2" h="369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2" name="Freeform 4346" descr="Icon of box and whisker chart. ">
            <a:extLst>
              <a:ext uri="{FF2B5EF4-FFF2-40B4-BE49-F238E27FC236}">
                <a16:creationId xmlns:a16="http://schemas.microsoft.com/office/drawing/2014/main" id="{D131817A-5B27-4718-8BAC-45C9CEDA45D9}"/>
              </a:ext>
            </a:extLst>
          </p:cNvPr>
          <p:cNvSpPr>
            <a:spLocks noEditPoints="1"/>
          </p:cNvSpPr>
          <p:nvPr/>
        </p:nvSpPr>
        <p:spPr bwMode="auto">
          <a:xfrm>
            <a:off x="3967321" y="3532346"/>
            <a:ext cx="345758" cy="345758"/>
          </a:xfrm>
          <a:custGeom>
            <a:avLst/>
            <a:gdLst>
              <a:gd name="T0" fmla="*/ 706 w 898"/>
              <a:gd name="T1" fmla="*/ 479 h 898"/>
              <a:gd name="T2" fmla="*/ 652 w 898"/>
              <a:gd name="T3" fmla="*/ 556 h 898"/>
              <a:gd name="T4" fmla="*/ 632 w 898"/>
              <a:gd name="T5" fmla="*/ 551 h 898"/>
              <a:gd name="T6" fmla="*/ 576 w 898"/>
              <a:gd name="T7" fmla="*/ 477 h 898"/>
              <a:gd name="T8" fmla="*/ 571 w 898"/>
              <a:gd name="T9" fmla="*/ 398 h 898"/>
              <a:gd name="T10" fmla="*/ 628 w 898"/>
              <a:gd name="T11" fmla="*/ 129 h 898"/>
              <a:gd name="T12" fmla="*/ 643 w 898"/>
              <a:gd name="T13" fmla="*/ 114 h 898"/>
              <a:gd name="T14" fmla="*/ 658 w 898"/>
              <a:gd name="T15" fmla="*/ 129 h 898"/>
              <a:gd name="T16" fmla="*/ 717 w 898"/>
              <a:gd name="T17" fmla="*/ 398 h 898"/>
              <a:gd name="T18" fmla="*/ 621 w 898"/>
              <a:gd name="T19" fmla="*/ 758 h 898"/>
              <a:gd name="T20" fmla="*/ 589 w 898"/>
              <a:gd name="T21" fmla="*/ 727 h 898"/>
              <a:gd name="T22" fmla="*/ 589 w 898"/>
              <a:gd name="T23" fmla="*/ 680 h 898"/>
              <a:gd name="T24" fmla="*/ 621 w 898"/>
              <a:gd name="T25" fmla="*/ 648 h 898"/>
              <a:gd name="T26" fmla="*/ 667 w 898"/>
              <a:gd name="T27" fmla="*/ 648 h 898"/>
              <a:gd name="T28" fmla="*/ 699 w 898"/>
              <a:gd name="T29" fmla="*/ 680 h 898"/>
              <a:gd name="T30" fmla="*/ 699 w 898"/>
              <a:gd name="T31" fmla="*/ 727 h 898"/>
              <a:gd name="T32" fmla="*/ 667 w 898"/>
              <a:gd name="T33" fmla="*/ 758 h 898"/>
              <a:gd name="T34" fmla="*/ 536 w 898"/>
              <a:gd name="T35" fmla="*/ 294 h 898"/>
              <a:gd name="T36" fmla="*/ 479 w 898"/>
              <a:gd name="T37" fmla="*/ 546 h 898"/>
              <a:gd name="T38" fmla="*/ 461 w 898"/>
              <a:gd name="T39" fmla="*/ 558 h 898"/>
              <a:gd name="T40" fmla="*/ 450 w 898"/>
              <a:gd name="T41" fmla="*/ 299 h 898"/>
              <a:gd name="T42" fmla="*/ 390 w 898"/>
              <a:gd name="T43" fmla="*/ 287 h 898"/>
              <a:gd name="T44" fmla="*/ 398 w 898"/>
              <a:gd name="T45" fmla="*/ 211 h 898"/>
              <a:gd name="T46" fmla="*/ 454 w 898"/>
              <a:gd name="T47" fmla="*/ 118 h 898"/>
              <a:gd name="T48" fmla="*/ 475 w 898"/>
              <a:gd name="T49" fmla="*/ 118 h 898"/>
              <a:gd name="T50" fmla="*/ 530 w 898"/>
              <a:gd name="T51" fmla="*/ 211 h 898"/>
              <a:gd name="T52" fmla="*/ 465 w 898"/>
              <a:gd name="T53" fmla="*/ 763 h 898"/>
              <a:gd name="T54" fmla="*/ 422 w 898"/>
              <a:gd name="T55" fmla="*/ 745 h 898"/>
              <a:gd name="T56" fmla="*/ 405 w 898"/>
              <a:gd name="T57" fmla="*/ 703 h 898"/>
              <a:gd name="T58" fmla="*/ 422 w 898"/>
              <a:gd name="T59" fmla="*/ 661 h 898"/>
              <a:gd name="T60" fmla="*/ 465 w 898"/>
              <a:gd name="T61" fmla="*/ 643 h 898"/>
              <a:gd name="T62" fmla="*/ 506 w 898"/>
              <a:gd name="T63" fmla="*/ 661 h 898"/>
              <a:gd name="T64" fmla="*/ 525 w 898"/>
              <a:gd name="T65" fmla="*/ 703 h 898"/>
              <a:gd name="T66" fmla="*/ 506 w 898"/>
              <a:gd name="T67" fmla="*/ 745 h 898"/>
              <a:gd name="T68" fmla="*/ 465 w 898"/>
              <a:gd name="T69" fmla="*/ 763 h 898"/>
              <a:gd name="T70" fmla="*/ 318 w 898"/>
              <a:gd name="T71" fmla="*/ 419 h 898"/>
              <a:gd name="T72" fmla="*/ 263 w 898"/>
              <a:gd name="T73" fmla="*/ 556 h 898"/>
              <a:gd name="T74" fmla="*/ 242 w 898"/>
              <a:gd name="T75" fmla="*/ 551 h 898"/>
              <a:gd name="T76" fmla="*/ 186 w 898"/>
              <a:gd name="T77" fmla="*/ 417 h 898"/>
              <a:gd name="T78" fmla="*/ 181 w 898"/>
              <a:gd name="T79" fmla="*/ 339 h 898"/>
              <a:gd name="T80" fmla="*/ 240 w 898"/>
              <a:gd name="T81" fmla="*/ 129 h 898"/>
              <a:gd name="T82" fmla="*/ 255 w 898"/>
              <a:gd name="T83" fmla="*/ 114 h 898"/>
              <a:gd name="T84" fmla="*/ 270 w 898"/>
              <a:gd name="T85" fmla="*/ 129 h 898"/>
              <a:gd name="T86" fmla="*/ 329 w 898"/>
              <a:gd name="T87" fmla="*/ 339 h 898"/>
              <a:gd name="T88" fmla="*/ 231 w 898"/>
              <a:gd name="T89" fmla="*/ 758 h 898"/>
              <a:gd name="T90" fmla="*/ 200 w 898"/>
              <a:gd name="T91" fmla="*/ 727 h 898"/>
              <a:gd name="T92" fmla="*/ 200 w 898"/>
              <a:gd name="T93" fmla="*/ 680 h 898"/>
              <a:gd name="T94" fmla="*/ 231 w 898"/>
              <a:gd name="T95" fmla="*/ 648 h 898"/>
              <a:gd name="T96" fmla="*/ 278 w 898"/>
              <a:gd name="T97" fmla="*/ 648 h 898"/>
              <a:gd name="T98" fmla="*/ 311 w 898"/>
              <a:gd name="T99" fmla="*/ 680 h 898"/>
              <a:gd name="T100" fmla="*/ 311 w 898"/>
              <a:gd name="T101" fmla="*/ 727 h 898"/>
              <a:gd name="T102" fmla="*/ 278 w 898"/>
              <a:gd name="T103" fmla="*/ 758 h 898"/>
              <a:gd name="T104" fmla="*/ 10 w 898"/>
              <a:gd name="T105" fmla="*/ 2 h 898"/>
              <a:gd name="T106" fmla="*/ 1 w 898"/>
              <a:gd name="T107" fmla="*/ 886 h 898"/>
              <a:gd name="T108" fmla="*/ 883 w 898"/>
              <a:gd name="T109" fmla="*/ 898 h 898"/>
              <a:gd name="T110" fmla="*/ 898 w 898"/>
              <a:gd name="T111" fmla="*/ 883 h 898"/>
              <a:gd name="T112" fmla="*/ 886 w 898"/>
              <a:gd name="T113" fmla="*/ 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8" h="898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" name="Sun 17"/>
          <p:cNvSpPr/>
          <p:nvPr/>
        </p:nvSpPr>
        <p:spPr>
          <a:xfrm>
            <a:off x="374431" y="362840"/>
            <a:ext cx="1098769" cy="1305916"/>
          </a:xfrm>
          <a:prstGeom prst="sun">
            <a:avLst/>
          </a:prstGeom>
          <a:solidFill>
            <a:schemeClr val="bg2">
              <a:lumMod val="2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18795"/>
          </a:xfrm>
        </p:spPr>
        <p:txBody>
          <a:bodyPr lIns="0" tIns="0" rIns="0" bIns="0" anchor="t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/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Overview of Dataset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smtClean="0">
                <a:latin typeface="Arial Black" panose="020B0A04020102020204" pitchFamily="34" charset="0"/>
              </a:rPr>
              <a:t>1: Number of Rows and Columns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bg1"/>
                </a:solidFill>
              </a:rPr>
              <a:t>Our dataset consist a total of 154 rows.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bg1"/>
                </a:solidFill>
              </a:rPr>
              <a:t>Each row represents a distinct diamond with unique attributes.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bg1"/>
                </a:solidFill>
              </a:rPr>
              <a:t>We will explore relationship between these diamonds based up on certain key characteristics.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bg1"/>
                </a:solidFill>
              </a:rPr>
              <a:t>These insight could be valuable to acquire the knowledge to understand the patterns in the diamond market.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32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9584636" y="-15766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9117575" y="-482827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3609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18795"/>
          </a:xfrm>
        </p:spPr>
        <p:txBody>
          <a:bodyPr lIns="0" tIns="0" rIns="0" bIns="0" anchor="t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/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Overview of Dataset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dirty="0">
                <a:latin typeface="Arial Black" panose="020B0A04020102020204" pitchFamily="34" charset="0"/>
              </a:rPr>
              <a:t>2</a:t>
            </a:r>
            <a:r>
              <a:rPr lang="en-US" sz="3200" dirty="0" smtClean="0">
                <a:latin typeface="Arial Black" panose="020B0A04020102020204" pitchFamily="34" charset="0"/>
              </a:rPr>
              <a:t>: Key Columns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bg1"/>
                </a:solidFill>
              </a:rPr>
              <a:t>It has following columns: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b="1" u="sng" dirty="0">
                <a:solidFill>
                  <a:schemeClr val="bg1"/>
                </a:solidFill>
              </a:rPr>
              <a:t>Carat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 smtClean="0">
                <a:solidFill>
                  <a:schemeClr val="bg1"/>
                </a:solidFill>
              </a:rPr>
              <a:t>It represents </a:t>
            </a:r>
            <a:r>
              <a:rPr lang="en-US" dirty="0">
                <a:solidFill>
                  <a:schemeClr val="bg1"/>
                </a:solidFill>
              </a:rPr>
              <a:t>the weight of the diamond.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b="1" u="sng" dirty="0">
                <a:solidFill>
                  <a:schemeClr val="bg1"/>
                </a:solidFill>
              </a:rPr>
              <a:t>Cut</a:t>
            </a:r>
            <a:r>
              <a:rPr lang="en-US" dirty="0">
                <a:solidFill>
                  <a:schemeClr val="bg1"/>
                </a:solidFill>
              </a:rPr>
              <a:t>: It d</a:t>
            </a:r>
            <a:r>
              <a:rPr lang="en-US" dirty="0" smtClean="0">
                <a:solidFill>
                  <a:schemeClr val="bg1"/>
                </a:solidFill>
              </a:rPr>
              <a:t>escribes </a:t>
            </a:r>
            <a:r>
              <a:rPr lang="en-US" dirty="0">
                <a:solidFill>
                  <a:schemeClr val="bg1"/>
                </a:solidFill>
              </a:rPr>
              <a:t>the cut quality of the diamond (e.g., Ideal, </a:t>
            </a:r>
            <a:r>
              <a:rPr lang="en-US" dirty="0" smtClean="0">
                <a:solidFill>
                  <a:schemeClr val="bg1"/>
                </a:solidFill>
              </a:rPr>
              <a:t>Premium or </a:t>
            </a:r>
            <a:r>
              <a:rPr lang="en-US" dirty="0">
                <a:solidFill>
                  <a:schemeClr val="bg1"/>
                </a:solidFill>
              </a:rPr>
              <a:t>Good).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b="1" u="sng" dirty="0">
                <a:solidFill>
                  <a:schemeClr val="bg1"/>
                </a:solidFill>
              </a:rPr>
              <a:t>Color</a:t>
            </a:r>
            <a:r>
              <a:rPr lang="en-US" dirty="0" smtClean="0">
                <a:solidFill>
                  <a:schemeClr val="bg1"/>
                </a:solidFill>
              </a:rPr>
              <a:t>: </a:t>
            </a:r>
            <a:r>
              <a:rPr lang="en-US" dirty="0">
                <a:solidFill>
                  <a:schemeClr val="bg1"/>
                </a:solidFill>
              </a:rPr>
              <a:t>It</a:t>
            </a:r>
            <a:r>
              <a:rPr lang="en-US" dirty="0" smtClean="0">
                <a:solidFill>
                  <a:schemeClr val="bg1"/>
                </a:solidFill>
              </a:rPr>
              <a:t> shows </a:t>
            </a:r>
            <a:r>
              <a:rPr lang="en-US" dirty="0">
                <a:solidFill>
                  <a:schemeClr val="bg1"/>
                </a:solidFill>
              </a:rPr>
              <a:t>the color of the diamond (e.g., D to J</a:t>
            </a:r>
            <a:r>
              <a:rPr lang="en-US" dirty="0" smtClean="0">
                <a:solidFill>
                  <a:schemeClr val="bg1"/>
                </a:solidFill>
              </a:rPr>
              <a:t>).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b="1" u="sng" dirty="0">
                <a:solidFill>
                  <a:schemeClr val="bg1"/>
                </a:solidFill>
              </a:rPr>
              <a:t>Clarity</a:t>
            </a:r>
            <a:r>
              <a:rPr lang="en-US" dirty="0" smtClean="0">
                <a:solidFill>
                  <a:schemeClr val="bg1"/>
                </a:solidFill>
              </a:rPr>
              <a:t>: </a:t>
            </a:r>
            <a:r>
              <a:rPr lang="en-US" dirty="0">
                <a:solidFill>
                  <a:schemeClr val="bg1"/>
                </a:solidFill>
              </a:rPr>
              <a:t>It</a:t>
            </a:r>
            <a:r>
              <a:rPr lang="en-US" dirty="0" smtClean="0">
                <a:solidFill>
                  <a:schemeClr val="bg1"/>
                </a:solidFill>
              </a:rPr>
              <a:t> shows </a:t>
            </a:r>
            <a:r>
              <a:rPr lang="en-US" dirty="0">
                <a:solidFill>
                  <a:schemeClr val="bg1"/>
                </a:solidFill>
              </a:rPr>
              <a:t>the clarity of the diamond (e.g., IF, VVS1, VVS2, etc.).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b="1" u="sng" dirty="0">
                <a:solidFill>
                  <a:schemeClr val="bg1"/>
                </a:solidFill>
              </a:rPr>
              <a:t>Depth</a:t>
            </a:r>
            <a:r>
              <a:rPr lang="en-US" dirty="0" smtClean="0">
                <a:solidFill>
                  <a:schemeClr val="bg1"/>
                </a:solidFill>
              </a:rPr>
              <a:t>: </a:t>
            </a:r>
            <a:r>
              <a:rPr lang="en-US" dirty="0">
                <a:solidFill>
                  <a:schemeClr val="bg1"/>
                </a:solidFill>
              </a:rPr>
              <a:t>It</a:t>
            </a:r>
            <a:r>
              <a:rPr lang="en-US" dirty="0" smtClean="0">
                <a:solidFill>
                  <a:schemeClr val="bg1"/>
                </a:solidFill>
              </a:rPr>
              <a:t> reflects </a:t>
            </a:r>
            <a:r>
              <a:rPr lang="en-US" dirty="0">
                <a:solidFill>
                  <a:schemeClr val="bg1"/>
                </a:solidFill>
              </a:rPr>
              <a:t>to the depth percentage of the diamond."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b="1" u="sng" dirty="0">
                <a:solidFill>
                  <a:schemeClr val="bg1"/>
                </a:solidFill>
              </a:rPr>
              <a:t>Table</a:t>
            </a:r>
            <a:r>
              <a:rPr lang="en-US" dirty="0">
                <a:solidFill>
                  <a:schemeClr val="bg1"/>
                </a:solidFill>
              </a:rPr>
              <a:t>: It </a:t>
            </a:r>
            <a:r>
              <a:rPr lang="en-US" dirty="0" smtClean="0">
                <a:solidFill>
                  <a:schemeClr val="bg1"/>
                </a:solidFill>
              </a:rPr>
              <a:t>shows </a:t>
            </a:r>
            <a:r>
              <a:rPr lang="en-US" dirty="0">
                <a:solidFill>
                  <a:schemeClr val="bg1"/>
                </a:solidFill>
              </a:rPr>
              <a:t>the width of the </a:t>
            </a:r>
            <a:r>
              <a:rPr lang="en-US" dirty="0" smtClean="0">
                <a:solidFill>
                  <a:schemeClr val="bg1"/>
                </a:solidFill>
              </a:rPr>
              <a:t>table.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b="1" u="sng" dirty="0" smtClean="0">
                <a:solidFill>
                  <a:schemeClr val="bg1"/>
                </a:solidFill>
              </a:rPr>
              <a:t>Price</a:t>
            </a:r>
            <a:r>
              <a:rPr lang="en-US" sz="3200" dirty="0" smtClean="0">
                <a:solidFill>
                  <a:schemeClr val="bg1"/>
                </a:solidFill>
              </a:rPr>
              <a:t>: </a:t>
            </a:r>
            <a:r>
              <a:rPr lang="en-US" sz="3200" dirty="0">
                <a:solidFill>
                  <a:schemeClr val="bg1"/>
                </a:solidFill>
              </a:rPr>
              <a:t>It </a:t>
            </a:r>
            <a:r>
              <a:rPr lang="en-US" sz="3200" dirty="0" smtClean="0">
                <a:solidFill>
                  <a:schemeClr val="bg1"/>
                </a:solidFill>
              </a:rPr>
              <a:t>shows price of the diamond.</a:t>
            </a:r>
            <a:endParaRPr lang="en-US" sz="32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9584636" y="-15766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9117575" y="-482827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7711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18795"/>
          </a:xfrm>
        </p:spPr>
        <p:txBody>
          <a:bodyPr lIns="0" tIns="0" rIns="0" bIns="0" anchor="t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/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Overview of Dataset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8334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Arial Black" panose="020B0A04020102020204" pitchFamily="34" charset="0"/>
              </a:rPr>
              <a:t>3</a:t>
            </a:r>
            <a:r>
              <a:rPr lang="en-US" sz="3200" dirty="0" smtClean="0">
                <a:latin typeface="Arial Black" panose="020B0A04020102020204" pitchFamily="34" charset="0"/>
              </a:rPr>
              <a:t>: Types of diamond-related data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dirty="0" smtClean="0">
                <a:solidFill>
                  <a:schemeClr val="bg1"/>
                </a:solidFill>
              </a:rPr>
              <a:t>We have a set of attributes which provides a holistic view of diamonds.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dirty="0" smtClean="0">
                <a:solidFill>
                  <a:schemeClr val="bg1"/>
                </a:solidFill>
              </a:rPr>
              <a:t>Carat</a:t>
            </a:r>
            <a:r>
              <a:rPr lang="en-US" sz="3600" dirty="0">
                <a:solidFill>
                  <a:schemeClr val="bg1"/>
                </a:solidFill>
              </a:rPr>
              <a:t>, Cut, Color, Clarity, Depth, Table, and Price </a:t>
            </a:r>
            <a:r>
              <a:rPr lang="en-US" sz="3600" dirty="0" smtClean="0">
                <a:solidFill>
                  <a:schemeClr val="bg1"/>
                </a:solidFill>
              </a:rPr>
              <a:t>together </a:t>
            </a:r>
            <a:r>
              <a:rPr lang="en-US" sz="3600" dirty="0">
                <a:solidFill>
                  <a:schemeClr val="bg1"/>
                </a:solidFill>
              </a:rPr>
              <a:t>offer insights into the quality, appearance, and market value of </a:t>
            </a:r>
            <a:r>
              <a:rPr lang="en-US" sz="3600" dirty="0" smtClean="0">
                <a:solidFill>
                  <a:schemeClr val="bg1"/>
                </a:solidFill>
              </a:rPr>
              <a:t>the </a:t>
            </a:r>
            <a:r>
              <a:rPr lang="en-US" sz="3600" dirty="0">
                <a:solidFill>
                  <a:schemeClr val="bg1"/>
                </a:solidFill>
              </a:rPr>
              <a:t>diamonds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en-US" sz="32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9584636" y="-15766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9117575" y="-482827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360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18795"/>
          </a:xfrm>
        </p:spPr>
        <p:txBody>
          <a:bodyPr lIns="0" tIns="0" rIns="0" bIns="0" anchor="t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/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Overview of Dataset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Arial Black" panose="020B0A04020102020204" pitchFamily="34" charset="0"/>
              </a:rPr>
              <a:t>4</a:t>
            </a:r>
            <a:r>
              <a:rPr lang="en-US" sz="3200" dirty="0" smtClean="0">
                <a:latin typeface="Arial Black" panose="020B0A04020102020204" pitchFamily="34" charset="0"/>
              </a:rPr>
              <a:t>: Potential Processing Steps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Before getting into our analysis of dataset, we took steps to ensure the reliability and accuracy of data.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We checked missing values, mistakes, and errors that could impact this analysis.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Categorical variables, such as Cut, Color, and Clarity, were handled accurately for purposeful insights.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Numerical values were normalized to maintain consistency of data and to facilitate comparison.</a:t>
            </a:r>
            <a:endParaRPr lang="en-US" sz="32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9584636" y="-15766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9117575" y="-482827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4327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mond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9584636" y="-15766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9117575" y="-482827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Analysis Question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</a:rPr>
              <a:t>Q: What is relationship between price and carat?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>
                <a:solidFill>
                  <a:schemeClr val="bg1"/>
                </a:solidFill>
              </a:rPr>
              <a:t>Our main exploration revolves around understanding how the weight of a diamond (Carat) influences  market price.</a:t>
            </a:r>
          </a:p>
          <a:p>
            <a:r>
              <a:rPr lang="en-US" b="1" dirty="0">
                <a:solidFill>
                  <a:schemeClr val="bg1"/>
                </a:solidFill>
              </a:rPr>
              <a:t>Carat is an important factor in determining the value of a diamond, our goal is to show the nature of its relationship with the price.</a:t>
            </a:r>
          </a:p>
          <a:p>
            <a:r>
              <a:rPr lang="en-US" b="1" dirty="0">
                <a:solidFill>
                  <a:schemeClr val="bg1"/>
                </a:solidFill>
              </a:rPr>
              <a:t>This question was selected because it </a:t>
            </a:r>
            <a:r>
              <a:rPr lang="en-US" b="1" dirty="0" smtClean="0">
                <a:solidFill>
                  <a:schemeClr val="bg1"/>
                </a:solidFill>
              </a:rPr>
              <a:t>demonstrate an </a:t>
            </a:r>
            <a:r>
              <a:rPr lang="en-US" b="1" dirty="0">
                <a:solidFill>
                  <a:schemeClr val="bg1"/>
                </a:solidFill>
              </a:rPr>
              <a:t>important aspect of the diamond market and provide insight that can be valuable for consumers and industry professionals.</a:t>
            </a:r>
          </a:p>
          <a:p>
            <a:r>
              <a:rPr lang="en-US" b="1" dirty="0">
                <a:solidFill>
                  <a:schemeClr val="bg1"/>
                </a:solidFill>
              </a:rPr>
              <a:t>By exploring this relationship, we can understand pricing trends more better and potentially predict how changes in carat weight may influence the value of diamonds in the market.</a:t>
            </a:r>
            <a:endParaRPr lang="en-US" b="1" dirty="0" smtClean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16237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mond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9584636" y="-15766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9117575" y="-482827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545" y="1499565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Price Vs Carat</a:t>
            </a:r>
            <a:endParaRPr lang="en-US" b="1" dirty="0"/>
          </a:p>
        </p:txBody>
      </p:sp>
      <p:pic>
        <p:nvPicPr>
          <p:cNvPr id="1026" name="Picture 2" descr="https://plotly.com/~RPlotBot/1143/price-vs-carat.png"/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7987" y="2591598"/>
            <a:ext cx="6312527" cy="3812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-373150" y="700105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>
                <a:solidFill>
                  <a:schemeClr val="bg1"/>
                </a:solidFill>
              </a:rPr>
              <a:t>Result </a:t>
            </a:r>
            <a:r>
              <a:rPr lang="en-US" sz="2800" b="1" dirty="0">
                <a:solidFill>
                  <a:schemeClr val="bg1"/>
                </a:solidFill>
              </a:rPr>
              <a:t>Analysis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1490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4673A57-8C07-453C-8611-1D99E8CDE14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0" y="990601"/>
            <a:ext cx="12192000" cy="3513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2AC0C949-7A02-4C95-8017-D82E7E71C4F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Result 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Analysis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hart 6" descr="Chart.">
            <a:extLst>
              <a:ext uri="{FF2B5EF4-FFF2-40B4-BE49-F238E27FC236}">
                <a16:creationId xmlns:a16="http://schemas.microsoft.com/office/drawing/2014/main" id="{686C4999-06C3-490E-B7B9-866B1D0D97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8044666"/>
              </p:ext>
            </p:extLst>
          </p:nvPr>
        </p:nvGraphicFramePr>
        <p:xfrm>
          <a:off x="654050" y="1075266"/>
          <a:ext cx="10883900" cy="3344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9" name="Rectangle 48">
            <a:extLst>
              <a:ext uri="{FF2B5EF4-FFF2-40B4-BE49-F238E27FC236}">
                <a16:creationId xmlns:a16="http://schemas.microsoft.com/office/drawing/2014/main" id="{7FA68D61-8BDC-4C14-9F0D-CF0C946CD30A}"/>
              </a:ext>
            </a:extLst>
          </p:cNvPr>
          <p:cNvSpPr/>
          <p:nvPr/>
        </p:nvSpPr>
        <p:spPr>
          <a:xfrm>
            <a:off x="8610600" y="5521007"/>
            <a:ext cx="2743195" cy="2233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A4B18CA-09B5-4584-8D25-60B58EF68413}"/>
              </a:ext>
            </a:extLst>
          </p:cNvPr>
          <p:cNvSpPr/>
          <p:nvPr/>
        </p:nvSpPr>
        <p:spPr>
          <a:xfrm>
            <a:off x="5362581" y="4588931"/>
            <a:ext cx="659848" cy="24365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 panose="020B0502040204020203" pitchFamily="34" charset="0"/>
              </a:rPr>
              <a:t>Carat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4B18CA-09B5-4584-8D25-60B58EF68413}"/>
              </a:ext>
            </a:extLst>
          </p:cNvPr>
          <p:cNvSpPr/>
          <p:nvPr/>
        </p:nvSpPr>
        <p:spPr>
          <a:xfrm rot="16200000">
            <a:off x="0" y="2758301"/>
            <a:ext cx="659848" cy="2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 panose="020B0502040204020203" pitchFamily="34" charset="0"/>
              </a:rPr>
              <a:t>Price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1409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5669" y="472966"/>
            <a:ext cx="1143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Diamond Price Chart-2023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7934" y="1409418"/>
            <a:ext cx="6715594" cy="442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5691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A588A72A-976E-478A-9DD3-765AB3ED4CD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8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Result 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Analysis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C1CAF08-13B9-48BA-A271-8CE5B568A664}"/>
              </a:ext>
            </a:extLst>
          </p:cNvPr>
          <p:cNvSpPr/>
          <p:nvPr/>
        </p:nvSpPr>
        <p:spPr>
          <a:xfrm>
            <a:off x="1026687" y="1415971"/>
            <a:ext cx="4967514" cy="66479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+mj-lt"/>
              </a:rPr>
              <a:t>Carat Vs Price</a:t>
            </a:r>
            <a:endParaRPr lang="en-US" b="1" dirty="0">
              <a:latin typeface="+mj-lt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1B1E083-D07C-4934-9782-F7CCA3539ACF}"/>
              </a:ext>
            </a:extLst>
          </p:cNvPr>
          <p:cNvSpPr/>
          <p:nvPr/>
        </p:nvSpPr>
        <p:spPr>
          <a:xfrm>
            <a:off x="6333559" y="1330892"/>
            <a:ext cx="4967514" cy="66479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+mj-lt"/>
              </a:rPr>
              <a:t>Trends and Patterns</a:t>
            </a:r>
            <a:endParaRPr lang="en-US" b="1" dirty="0">
              <a:latin typeface="+mj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BC1BB2-55FC-4E8F-A171-32FAA820D2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1385888" y="4143831"/>
            <a:ext cx="989534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31A2EAE-EBE4-4CB7-9D0A-105837E80B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6255658" y="2104573"/>
            <a:ext cx="0" cy="407851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5ECF613A-FCF5-4CC5-AA46-DABB088D7230}"/>
              </a:ext>
            </a:extLst>
          </p:cNvPr>
          <p:cNvSpPr/>
          <p:nvPr/>
        </p:nvSpPr>
        <p:spPr>
          <a:xfrm>
            <a:off x="1632408" y="2604468"/>
            <a:ext cx="4162870" cy="129266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171450" indent="-17145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Our scatter plot, with Carat on the x-axis and Price on the y-axis, offers a visual representation of the relationship between these two key attributes</a:t>
            </a:r>
            <a:r>
              <a:rPr 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 Each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data point showcasing its carat weight and the associated </a:t>
            </a:r>
            <a:r>
              <a:rPr 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prices. The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scatter plot allows us to observe the overall trends or clusters.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842CE6B-862D-4B18-B10B-3436A7D24058}"/>
              </a:ext>
            </a:extLst>
          </p:cNvPr>
          <p:cNvSpPr/>
          <p:nvPr/>
        </p:nvSpPr>
        <p:spPr>
          <a:xfrm>
            <a:off x="6735881" y="2562157"/>
            <a:ext cx="4162870" cy="123110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171450" indent="-17145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Close examination of the scatter plot shows that diamonds within a specific carat range tend to exhibit similar pricing.</a:t>
            </a:r>
          </a:p>
          <a:p>
            <a:pPr marL="171450" indent="-17145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For instance, we usually observe that as carat weight increases, there is a noticeable upward rise in pricing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130C0AE-B52E-4C65-A461-AD2F7D2362DE}"/>
              </a:ext>
            </a:extLst>
          </p:cNvPr>
          <p:cNvSpPr/>
          <p:nvPr/>
        </p:nvSpPr>
        <p:spPr>
          <a:xfrm>
            <a:off x="1375416" y="4926287"/>
            <a:ext cx="4409390" cy="181588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171450" indent="-17145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We calculated the correlation coefficient to show the relationship between carat and price.</a:t>
            </a:r>
          </a:p>
          <a:p>
            <a:pPr marL="171450" indent="-17145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The correlation coefficient measures the strength and direction of the linear relationship between two variables.</a:t>
            </a:r>
          </a:p>
          <a:p>
            <a:pPr marL="171450" indent="-17145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 our </a:t>
            </a:r>
            <a:r>
              <a:rPr 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analysis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case, a positive correlation coefficient suggests that as carat weight increases, the price tends to increase as well.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E783ACB-62DF-4DA3-9240-822BAEA78497}"/>
              </a:ext>
            </a:extLst>
          </p:cNvPr>
          <p:cNvSpPr/>
          <p:nvPr/>
        </p:nvSpPr>
        <p:spPr>
          <a:xfrm>
            <a:off x="6676537" y="5064733"/>
            <a:ext cx="4162870" cy="138499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171450" indent="-17145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Our analysis indicates a positive correlation.</a:t>
            </a:r>
          </a:p>
          <a:p>
            <a:pPr marL="171450" indent="-17145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This implies that, as the carat weight of a diamond increases, its market price tends to rise as well.</a:t>
            </a:r>
          </a:p>
          <a:p>
            <a:pPr marL="171450" indent="-17145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Knowing this relationship has major implications for consumers, jewelers, and professionals.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20" name="Rectangle: Rounded Corners 1">
            <a:extLst>
              <a:ext uri="{FF2B5EF4-FFF2-40B4-BE49-F238E27FC236}">
                <a16:creationId xmlns:a16="http://schemas.microsoft.com/office/drawing/2014/main" id="{3C1CAF08-13B9-48BA-A271-8CE5B568A664}"/>
              </a:ext>
            </a:extLst>
          </p:cNvPr>
          <p:cNvSpPr/>
          <p:nvPr/>
        </p:nvSpPr>
        <p:spPr>
          <a:xfrm>
            <a:off x="1259116" y="4210191"/>
            <a:ext cx="4967514" cy="613235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+mj-lt"/>
              </a:rPr>
              <a:t>Correlation Analysis</a:t>
            </a:r>
            <a:endParaRPr lang="en-US" b="1" dirty="0">
              <a:latin typeface="+mj-lt"/>
            </a:endParaRPr>
          </a:p>
        </p:txBody>
      </p:sp>
      <p:sp>
        <p:nvSpPr>
          <p:cNvPr id="21" name="Rectangle: Rounded Corners 1">
            <a:extLst>
              <a:ext uri="{FF2B5EF4-FFF2-40B4-BE49-F238E27FC236}">
                <a16:creationId xmlns:a16="http://schemas.microsoft.com/office/drawing/2014/main" id="{3C1CAF08-13B9-48BA-A271-8CE5B568A664}"/>
              </a:ext>
            </a:extLst>
          </p:cNvPr>
          <p:cNvSpPr/>
          <p:nvPr/>
        </p:nvSpPr>
        <p:spPr>
          <a:xfrm>
            <a:off x="6313716" y="4158629"/>
            <a:ext cx="4967514" cy="66479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Insights and </a:t>
            </a:r>
            <a:r>
              <a:rPr lang="en-US" b="1" dirty="0" smtClean="0"/>
              <a:t>Implication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273641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mond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9584636" y="-15766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9117575" y="-482827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718" y="1420170"/>
            <a:ext cx="10515600" cy="823585"/>
          </a:xfrm>
        </p:spPr>
        <p:txBody>
          <a:bodyPr/>
          <a:lstStyle/>
          <a:p>
            <a:pPr algn="ctr"/>
            <a:r>
              <a:rPr lang="en-US" b="1" dirty="0" smtClean="0"/>
              <a:t>Summary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91597"/>
            <a:ext cx="10515600" cy="358536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In summary, our analysis showed a positive correlation between Carat and Price in the diamond dataset.</a:t>
            </a:r>
          </a:p>
          <a:p>
            <a:r>
              <a:rPr lang="en-US" dirty="0">
                <a:solidFill>
                  <a:schemeClr val="bg1"/>
                </a:solidFill>
              </a:rPr>
              <a:t>The scatter plot visually demonstrated how changes in carat weight correspond to shifts in pricing.</a:t>
            </a:r>
          </a:p>
          <a:p>
            <a:r>
              <a:rPr lang="en-US" dirty="0">
                <a:solidFill>
                  <a:schemeClr val="bg1"/>
                </a:solidFill>
              </a:rPr>
              <a:t>This insight is important for stakeholders in the diamond industry to get the core factors impacting market prices.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-373150" y="700105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>
                <a:solidFill>
                  <a:schemeClr val="bg1"/>
                </a:solidFill>
              </a:rPr>
              <a:t>Conclusion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05550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mond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9584636" y="-15766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9117575" y="-482827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718" y="1420170"/>
            <a:ext cx="10515600" cy="823585"/>
          </a:xfrm>
        </p:spPr>
        <p:txBody>
          <a:bodyPr/>
          <a:lstStyle/>
          <a:p>
            <a:pPr algn="ctr"/>
            <a:r>
              <a:rPr lang="en-US" b="1" dirty="0" smtClean="0"/>
              <a:t>Implications of Result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91597"/>
            <a:ext cx="10515600" cy="3585365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The  correlation has significant implications for both consumers and professionals.</a:t>
            </a:r>
          </a:p>
          <a:p>
            <a:r>
              <a:rPr lang="en-US" dirty="0">
                <a:solidFill>
                  <a:schemeClr val="bg1"/>
                </a:solidFill>
              </a:rPr>
              <a:t>Consumers can use this information to make more informed decisions about their diamond purchases because they will consider the impact of carat weight on pricing.</a:t>
            </a:r>
          </a:p>
          <a:p>
            <a:r>
              <a:rPr lang="en-US" dirty="0">
                <a:solidFill>
                  <a:schemeClr val="bg1"/>
                </a:solidFill>
              </a:rPr>
              <a:t>In case of sellers and jewelers, getting knowledge of the correlation allows for strategic pricing strategies based on the carat weight of diamonds.</a:t>
            </a:r>
          </a:p>
          <a:p>
            <a:r>
              <a:rPr lang="en-US" dirty="0">
                <a:solidFill>
                  <a:schemeClr val="bg1"/>
                </a:solidFill>
              </a:rPr>
              <a:t>This insight empowers stakeholders to navigate the market more effectively and adapt to changing consumer preferences.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-373150" y="700105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>
                <a:solidFill>
                  <a:schemeClr val="bg1"/>
                </a:solidFill>
              </a:rPr>
              <a:t>Conclusion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8389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mond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9584636" y="-15766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9117575" y="-482827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718" y="1420170"/>
            <a:ext cx="10515600" cy="823585"/>
          </a:xfrm>
        </p:spPr>
        <p:txBody>
          <a:bodyPr/>
          <a:lstStyle/>
          <a:p>
            <a:pPr algn="ctr"/>
            <a:r>
              <a:rPr lang="en-US" b="1" dirty="0"/>
              <a:t>Challenges Encountered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718" y="3058660"/>
            <a:ext cx="10515600" cy="291647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It's essential to admire that the relationship between Carat and Price is complex, with additional factors influencing pricing dynamics.</a:t>
            </a:r>
          </a:p>
          <a:p>
            <a:r>
              <a:rPr lang="en-US" dirty="0">
                <a:solidFill>
                  <a:schemeClr val="bg1"/>
                </a:solidFill>
              </a:rPr>
              <a:t>These unexpected findings or challenges allows for a more </a:t>
            </a:r>
            <a:r>
              <a:rPr lang="en-US" dirty="0" smtClean="0">
                <a:solidFill>
                  <a:schemeClr val="bg1"/>
                </a:solidFill>
              </a:rPr>
              <a:t>nuanced </a:t>
            </a:r>
            <a:r>
              <a:rPr lang="en-US" dirty="0">
                <a:solidFill>
                  <a:schemeClr val="bg1"/>
                </a:solidFill>
              </a:rPr>
              <a:t>interpretation of the results.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-373150" y="700105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>
                <a:solidFill>
                  <a:schemeClr val="bg1"/>
                </a:solidFill>
              </a:rPr>
              <a:t>Conclusion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5199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mond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9584636" y="-15766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9117575" y="-482827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718" y="1420170"/>
            <a:ext cx="10515600" cy="823585"/>
          </a:xfrm>
        </p:spPr>
        <p:txBody>
          <a:bodyPr/>
          <a:lstStyle/>
          <a:p>
            <a:pPr algn="ctr"/>
            <a:r>
              <a:rPr lang="en-US" b="1" dirty="0" smtClean="0"/>
              <a:t>Significance of Analysis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718" y="3058660"/>
            <a:ext cx="10515600" cy="2916472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Our analysis offers a valuable contribution in understanding the diamond pricing trends.</a:t>
            </a:r>
          </a:p>
          <a:p>
            <a:r>
              <a:rPr lang="en-US" dirty="0">
                <a:solidFill>
                  <a:schemeClr val="bg1"/>
                </a:solidFill>
              </a:rPr>
              <a:t>By showing the relationship between Carat and Price, we provided insights for industry persons to adapt to market dynamics.</a:t>
            </a:r>
          </a:p>
          <a:p>
            <a:r>
              <a:rPr lang="en-US" dirty="0">
                <a:solidFill>
                  <a:schemeClr val="bg1"/>
                </a:solidFill>
              </a:rPr>
              <a:t>This analysis serves as a base for future research, encouraging a deep exploration of  factors that contribute to the intricate pricing landscape.</a:t>
            </a:r>
          </a:p>
          <a:p>
            <a:r>
              <a:rPr lang="en-US" dirty="0">
                <a:solidFill>
                  <a:schemeClr val="bg1"/>
                </a:solidFill>
              </a:rPr>
              <a:t>Ultimately, the significance of this analysis lies in its potential to inform decision-making and enhance market transparency.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-373150" y="700105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>
                <a:solidFill>
                  <a:schemeClr val="bg1"/>
                </a:solidFill>
              </a:rPr>
              <a:t>Conclusion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5905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2A21665-C64F-4BDA-B2DE-442D706057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>
          <a:xfrm>
            <a:off x="4325258" y="1544068"/>
            <a:ext cx="3541486" cy="3769865"/>
            <a:chOff x="4325258" y="1229517"/>
            <a:chExt cx="3541486" cy="3769865"/>
          </a:xfrm>
        </p:grpSpPr>
        <p:sp>
          <p:nvSpPr>
            <p:cNvPr id="12" name="Diamond 11">
              <a:extLst>
                <a:ext uri="{FF2B5EF4-FFF2-40B4-BE49-F238E27FC236}">
                  <a16:creationId xmlns:a16="http://schemas.microsoft.com/office/drawing/2014/main" id="{7DC8B409-5FAC-4539-B25A-26BE925A48AF}"/>
                </a:ext>
              </a:extLst>
            </p:cNvPr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id="{91498E2F-539C-46D3-AF7C-BB1DAE76B114}"/>
                </a:ext>
              </a:extLst>
            </p:cNvPr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0403"/>
            <a:ext cx="9144000" cy="997196"/>
          </a:xfrm>
        </p:spPr>
        <p:txBody>
          <a:bodyPr lIns="0" tIns="0" rIns="0" bIns="0" anchor="ctr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Thank You</a:t>
            </a:r>
            <a:endParaRPr lang="en-US" sz="7200" dirty="0">
              <a:solidFill>
                <a:schemeClr val="accent4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5669" y="472966"/>
            <a:ext cx="1143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sz="2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diamonds are shaped by nature's forces, data is shaped by analytical minds. Both processes unveil unique facets of brilliance.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455520_Project analysis, from 24Slides_SL_V1.potx" id="{55E7247F-78B2-40DB-9AFE-D4DD42FA8F09}" vid="{22E2FD65-A32D-4798-AF43-CE42F250B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FD05317-60D6-4B3A-8545-888496D1A8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A00BBF-EEBB-4E18-B8CB-F926EAAC48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609EDA-869E-4BE5-AE5D-B898C584B6FF}">
  <ds:schemaRefs>
    <ds:schemaRef ds:uri="http://purl.org/dc/elements/1.1/"/>
    <ds:schemaRef ds:uri="http://purl.org/dc/terms/"/>
    <ds:schemaRef ds:uri="http://schemas.microsoft.com/office/infopath/2007/PartnerControls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16c05727-aa75-4e4a-9b5f-8a80a1165891"/>
    <ds:schemaRef ds:uri="71af3243-3dd4-4a8d-8c0d-dd76da1f02a5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987</Words>
  <Application>Microsoft Office PowerPoint</Application>
  <PresentationFormat>Widescreen</PresentationFormat>
  <Paragraphs>106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Arial Black</vt:lpstr>
      <vt:lpstr>Calibri</vt:lpstr>
      <vt:lpstr>Century Gothic</vt:lpstr>
      <vt:lpstr>Segoe UI</vt:lpstr>
      <vt:lpstr>Segoe UI Light</vt:lpstr>
      <vt:lpstr>Wingdings</vt:lpstr>
      <vt:lpstr>Office Theme</vt:lpstr>
      <vt:lpstr>Diamonds Dataset Analysis Exploring Patterns &amp; Trends</vt:lpstr>
      <vt:lpstr>Project analysis slide 2</vt:lpstr>
      <vt:lpstr> Overview of Dataset</vt:lpstr>
      <vt:lpstr> Overview of Dataset</vt:lpstr>
      <vt:lpstr> Overview of Dataset</vt:lpstr>
      <vt:lpstr> Overview of Dataset</vt:lpstr>
      <vt:lpstr>Analysis Question</vt:lpstr>
      <vt:lpstr>Price Vs Carat</vt:lpstr>
      <vt:lpstr>Project analysis slide 5</vt:lpstr>
      <vt:lpstr>PowerPoint Presentation</vt:lpstr>
      <vt:lpstr>Project analysis slide 8</vt:lpstr>
      <vt:lpstr>Summary </vt:lpstr>
      <vt:lpstr>Implications of Result </vt:lpstr>
      <vt:lpstr>Challenges Encountered</vt:lpstr>
      <vt:lpstr>Significance of Analysis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2023-11-12T16:31:48Z</dcterms:created>
  <dcterms:modified xsi:type="dcterms:W3CDTF">2023-11-12T20:36:17Z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